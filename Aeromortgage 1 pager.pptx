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339" r:id="rId2"/>
    <p:sldId id="340" r:id="rId3"/>
    <p:sldId id="341" r:id="rId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p:cViewPr varScale="1">
        <p:scale>
          <a:sx n="69" d="100"/>
          <a:sy n="69" d="100"/>
        </p:scale>
        <p:origin x="1184" y="7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075413-C565-4A3E-8DDF-F65E7B39A1D3}" type="datetimeFigureOut">
              <a:rPr lang="en-US" smtClean="0"/>
              <a:t>3/2/2026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6BF40B-BCDB-431F-A12C-6E5EB5D49589}" type="slidenum">
              <a:rPr lang="en-US" smtClean="0"/>
              <a:t>‹#›</a:t>
            </a:fld>
            <a:endParaRPr lang="en-US"/>
          </a:p>
        </p:txBody>
      </p:sp>
    </p:spTree>
    <p:extLst>
      <p:ext uri="{BB962C8B-B14F-4D97-AF65-F5344CB8AC3E}">
        <p14:creationId xmlns:p14="http://schemas.microsoft.com/office/powerpoint/2010/main" val="1883293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95350" y="739775"/>
            <a:ext cx="4927600" cy="3695700"/>
          </a:xfrm>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B2C06E8-48A6-4E03-8711-C45C0018F498}" type="slidenum">
              <a:rPr lang="en-GB" smtClean="0"/>
              <a:pPr/>
              <a:t>1</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CAF4314-5126-453E-98AF-9AF2383CC071}"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62222B-2081-4DD2-A884-6C9CA8A30AB6}" type="slidenum">
              <a:rPr lang="en-US" smtClean="0"/>
              <a:t>‹#›</a:t>
            </a:fld>
            <a:endParaRPr lang="en-US"/>
          </a:p>
        </p:txBody>
      </p:sp>
    </p:spTree>
    <p:extLst>
      <p:ext uri="{BB962C8B-B14F-4D97-AF65-F5344CB8AC3E}">
        <p14:creationId xmlns:p14="http://schemas.microsoft.com/office/powerpoint/2010/main" val="2742304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CAF4314-5126-453E-98AF-9AF2383CC071}"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62222B-2081-4DD2-A884-6C9CA8A30AB6}" type="slidenum">
              <a:rPr lang="en-US" smtClean="0"/>
              <a:t>‹#›</a:t>
            </a:fld>
            <a:endParaRPr lang="en-US"/>
          </a:p>
        </p:txBody>
      </p:sp>
    </p:spTree>
    <p:extLst>
      <p:ext uri="{BB962C8B-B14F-4D97-AF65-F5344CB8AC3E}">
        <p14:creationId xmlns:p14="http://schemas.microsoft.com/office/powerpoint/2010/main" val="4252385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CAF4314-5126-453E-98AF-9AF2383CC071}"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62222B-2081-4DD2-A884-6C9CA8A30AB6}" type="slidenum">
              <a:rPr lang="en-US" smtClean="0"/>
              <a:t>‹#›</a:t>
            </a:fld>
            <a:endParaRPr lang="en-US"/>
          </a:p>
        </p:txBody>
      </p:sp>
    </p:spTree>
    <p:extLst>
      <p:ext uri="{BB962C8B-B14F-4D97-AF65-F5344CB8AC3E}">
        <p14:creationId xmlns:p14="http://schemas.microsoft.com/office/powerpoint/2010/main" val="3600801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CAF4314-5126-453E-98AF-9AF2383CC071}" type="datetimeFigureOut">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62222B-2081-4DD2-A884-6C9CA8A30AB6}" type="slidenum">
              <a:rPr lang="en-US" smtClean="0"/>
              <a:t>‹#›</a:t>
            </a:fld>
            <a:endParaRPr lang="en-US"/>
          </a:p>
        </p:txBody>
      </p:sp>
    </p:spTree>
    <p:extLst>
      <p:ext uri="{BB962C8B-B14F-4D97-AF65-F5344CB8AC3E}">
        <p14:creationId xmlns:p14="http://schemas.microsoft.com/office/powerpoint/2010/main" val="1559767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CAF4314-5126-453E-98AF-9AF2383CC071}" type="datetimeFigureOut">
              <a:rPr lang="en-US" smtClean="0"/>
              <a:t>3/2/2026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162222B-2081-4DD2-A884-6C9CA8A30AB6}" type="slidenum">
              <a:rPr lang="en-US" smtClean="0"/>
              <a:t>‹#›</a:t>
            </a:fld>
            <a:endParaRPr lang="en-US"/>
          </a:p>
        </p:txBody>
      </p:sp>
    </p:spTree>
    <p:extLst>
      <p:ext uri="{BB962C8B-B14F-4D97-AF65-F5344CB8AC3E}">
        <p14:creationId xmlns:p14="http://schemas.microsoft.com/office/powerpoint/2010/main" val="33982570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CAF4314-5126-453E-98AF-9AF2383CC071}" type="datetimeFigureOut">
              <a:rPr lang="en-US" smtClean="0"/>
              <a:t>3/2/2026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162222B-2081-4DD2-A884-6C9CA8A30AB6}" type="slidenum">
              <a:rPr lang="en-US" smtClean="0"/>
              <a:t>‹#›</a:t>
            </a:fld>
            <a:endParaRPr lang="en-US"/>
          </a:p>
        </p:txBody>
      </p:sp>
    </p:spTree>
    <p:extLst>
      <p:ext uri="{BB962C8B-B14F-4D97-AF65-F5344CB8AC3E}">
        <p14:creationId xmlns:p14="http://schemas.microsoft.com/office/powerpoint/2010/main" val="3553358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AF4314-5126-453E-98AF-9AF2383CC071}" type="datetimeFigureOut">
              <a:rPr lang="en-US" smtClean="0"/>
              <a:t>3/2/2026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162222B-2081-4DD2-A884-6C9CA8A30AB6}" type="slidenum">
              <a:rPr lang="en-US" smtClean="0"/>
              <a:t>‹#›</a:t>
            </a:fld>
            <a:endParaRPr lang="en-US"/>
          </a:p>
        </p:txBody>
      </p:sp>
    </p:spTree>
    <p:extLst>
      <p:ext uri="{BB962C8B-B14F-4D97-AF65-F5344CB8AC3E}">
        <p14:creationId xmlns:p14="http://schemas.microsoft.com/office/powerpoint/2010/main" val="3342942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CAF4314-5126-453E-98AF-9AF2383CC071}" type="datetimeFigureOut">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62222B-2081-4DD2-A884-6C9CA8A30AB6}" type="slidenum">
              <a:rPr lang="en-US" smtClean="0"/>
              <a:t>‹#›</a:t>
            </a:fld>
            <a:endParaRPr lang="en-US"/>
          </a:p>
        </p:txBody>
      </p:sp>
    </p:spTree>
    <p:extLst>
      <p:ext uri="{BB962C8B-B14F-4D97-AF65-F5344CB8AC3E}">
        <p14:creationId xmlns:p14="http://schemas.microsoft.com/office/powerpoint/2010/main" val="2966473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CAF4314-5126-453E-98AF-9AF2383CC071}" type="datetimeFigureOut">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62222B-2081-4DD2-A884-6C9CA8A30AB6}" type="slidenum">
              <a:rPr lang="en-US" smtClean="0"/>
              <a:t>‹#›</a:t>
            </a:fld>
            <a:endParaRPr lang="en-US"/>
          </a:p>
        </p:txBody>
      </p:sp>
    </p:spTree>
    <p:extLst>
      <p:ext uri="{BB962C8B-B14F-4D97-AF65-F5344CB8AC3E}">
        <p14:creationId xmlns:p14="http://schemas.microsoft.com/office/powerpoint/2010/main" val="1810872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CAF4314-5126-453E-98AF-9AF2383CC071}"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62222B-2081-4DD2-A884-6C9CA8A30AB6}" type="slidenum">
              <a:rPr lang="en-US" smtClean="0"/>
              <a:t>‹#›</a:t>
            </a:fld>
            <a:endParaRPr lang="en-US"/>
          </a:p>
        </p:txBody>
      </p:sp>
    </p:spTree>
    <p:extLst>
      <p:ext uri="{BB962C8B-B14F-4D97-AF65-F5344CB8AC3E}">
        <p14:creationId xmlns:p14="http://schemas.microsoft.com/office/powerpoint/2010/main" val="1956106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CAF4314-5126-453E-98AF-9AF2383CC071}"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62222B-2081-4DD2-A884-6C9CA8A30AB6}" type="slidenum">
              <a:rPr lang="en-US" smtClean="0"/>
              <a:t>‹#›</a:t>
            </a:fld>
            <a:endParaRPr lang="en-US"/>
          </a:p>
        </p:txBody>
      </p:sp>
    </p:spTree>
    <p:extLst>
      <p:ext uri="{BB962C8B-B14F-4D97-AF65-F5344CB8AC3E}">
        <p14:creationId xmlns:p14="http://schemas.microsoft.com/office/powerpoint/2010/main" val="4960724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ntent: One">
    <p:spTree>
      <p:nvGrpSpPr>
        <p:cNvPr id="1" name=""/>
        <p:cNvGrpSpPr/>
        <p:nvPr/>
      </p:nvGrpSpPr>
      <p:grpSpPr>
        <a:xfrm>
          <a:off x="0" y="0"/>
          <a:ext cx="0" cy="0"/>
          <a:chOff x="0" y="0"/>
          <a:chExt cx="0" cy="0"/>
        </a:xfrm>
      </p:grpSpPr>
      <p:sp>
        <p:nvSpPr>
          <p:cNvPr id="16" name="Title Placeholder 1"/>
          <p:cNvSpPr>
            <a:spLocks noGrp="1"/>
          </p:cNvSpPr>
          <p:nvPr>
            <p:ph type="title"/>
          </p:nvPr>
        </p:nvSpPr>
        <p:spPr>
          <a:xfrm>
            <a:off x="484910" y="1008530"/>
            <a:ext cx="8174182" cy="806824"/>
          </a:xfrm>
          <a:prstGeom prst="rect">
            <a:avLst/>
          </a:prstGeom>
        </p:spPr>
        <p:txBody>
          <a:bodyPr vert="horz" lIns="0" tIns="0" rIns="0" bIns="0" rtlCol="0" anchor="t" anchorCtr="0">
            <a:noAutofit/>
          </a:bodyPr>
          <a:lstStyle/>
          <a:p>
            <a:r>
              <a:rPr lang="en-GB" noProof="0"/>
              <a:t>Click to edit Master title style</a:t>
            </a:r>
            <a:endParaRPr lang="en-GB" noProof="0" dirty="0"/>
          </a:p>
        </p:txBody>
      </p:sp>
      <p:sp>
        <p:nvSpPr>
          <p:cNvPr id="19" name="Content Placeholder 18"/>
          <p:cNvSpPr>
            <a:spLocks noGrp="1"/>
          </p:cNvSpPr>
          <p:nvPr>
            <p:ph sz="quarter" idx="10"/>
          </p:nvPr>
        </p:nvSpPr>
        <p:spPr>
          <a:xfrm>
            <a:off x="484909" y="1949825"/>
            <a:ext cx="8174182" cy="3899647"/>
          </a:xfrm>
        </p:spPr>
        <p:txBody>
          <a:bodyPr/>
          <a:lstStyle>
            <a:lvl5pPr>
              <a:defRPr/>
            </a:lvl5pPr>
            <a:lvl6pPr>
              <a:defRPr/>
            </a:lvl6pPr>
            <a:lvl7pPr>
              <a:defRPr/>
            </a:lvl7pPr>
            <a:lvl8pPr>
              <a:defRPr/>
            </a:lvl8pPr>
            <a:lvl9pPr>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cxnSp>
        <p:nvCxnSpPr>
          <p:cNvPr id="25" name="Shape 24"/>
          <p:cNvCxnSpPr/>
          <p:nvPr/>
        </p:nvCxnSpPr>
        <p:spPr>
          <a:xfrm flipV="1">
            <a:off x="346365" y="941295"/>
            <a:ext cx="8312729" cy="153295"/>
          </a:xfrm>
          <a:prstGeom prst="bentConnector3">
            <a:avLst>
              <a:gd name="adj1" fmla="val 0"/>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Slide Number Placeholder 5"/>
          <p:cNvSpPr>
            <a:spLocks noGrp="1"/>
          </p:cNvSpPr>
          <p:nvPr>
            <p:ph type="sldNum" sz="quarter" idx="4"/>
          </p:nvPr>
        </p:nvSpPr>
        <p:spPr>
          <a:xfrm>
            <a:off x="7135092" y="6387354"/>
            <a:ext cx="1524000" cy="134471"/>
          </a:xfrm>
          <a:prstGeom prst="rect">
            <a:avLst/>
          </a:prstGeom>
        </p:spPr>
        <p:txBody>
          <a:bodyPr lIns="0" tIns="0" rIns="0" bIns="0" anchor="t" anchorCtr="0">
            <a:noAutofit/>
          </a:bodyPr>
          <a:lstStyle>
            <a:lvl1pPr algn="r">
              <a:defRPr sz="855">
                <a:solidFill>
                  <a:schemeClr val="tx1"/>
                </a:solidFill>
                <a:latin typeface="Arial" pitchFamily="34" charset="0"/>
                <a:cs typeface="Arial" pitchFamily="34" charset="0"/>
              </a:defRPr>
            </a:lvl1pPr>
          </a:lstStyle>
          <a:p>
            <a:fld id="{FEBD7F86-1881-4698-8703-FB80B0800997}" type="slidenum">
              <a:rPr lang="en-GB" smtClean="0"/>
              <a:pPr/>
              <a:t>‹#›</a:t>
            </a:fld>
            <a:endParaRPr lang="en-GB"/>
          </a:p>
        </p:txBody>
      </p:sp>
    </p:spTree>
    <p:extLst>
      <p:ext uri="{BB962C8B-B14F-4D97-AF65-F5344CB8AC3E}">
        <p14:creationId xmlns:p14="http://schemas.microsoft.com/office/powerpoint/2010/main" val="3751200802"/>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AF4314-5126-453E-98AF-9AF2383CC071}" type="datetimeFigureOut">
              <a:rPr lang="en-US" smtClean="0"/>
              <a:t>3/2/2026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62222B-2081-4DD2-A884-6C9CA8A30AB6}" type="slidenum">
              <a:rPr lang="en-US" smtClean="0"/>
              <a:t>‹#›</a:t>
            </a:fld>
            <a:endParaRPr lang="en-US"/>
          </a:p>
        </p:txBody>
      </p:sp>
    </p:spTree>
    <p:extLst>
      <p:ext uri="{BB962C8B-B14F-4D97-AF65-F5344CB8AC3E}">
        <p14:creationId xmlns:p14="http://schemas.microsoft.com/office/powerpoint/2010/main" val="4120014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909" y="136341"/>
            <a:ext cx="8174182" cy="806824"/>
          </a:xfrm>
        </p:spPr>
        <p:txBody>
          <a:bodyPr/>
          <a:lstStyle/>
          <a:p>
            <a:r>
              <a:rPr lang="en-CA" dirty="0">
                <a:solidFill>
                  <a:srgbClr val="C00000"/>
                </a:solidFill>
              </a:rPr>
              <a:t>Aeroplan Miles Payout</a:t>
            </a:r>
            <a:r>
              <a:rPr lang="en-CA" dirty="0"/>
              <a:t/>
            </a:r>
            <a:br>
              <a:rPr lang="en-CA" dirty="0"/>
            </a:br>
            <a:r>
              <a:rPr lang="en-CA" dirty="0"/>
              <a:t/>
            </a:r>
            <a:br>
              <a:rPr lang="en-CA" dirty="0"/>
            </a:br>
            <a:endParaRPr lang="en-CA" b="0" i="0" dirty="0"/>
          </a:p>
        </p:txBody>
      </p:sp>
      <p:graphicFrame>
        <p:nvGraphicFramePr>
          <p:cNvPr id="18" name="Table 17">
            <a:extLst>
              <a:ext uri="{FF2B5EF4-FFF2-40B4-BE49-F238E27FC236}">
                <a16:creationId xmlns:a16="http://schemas.microsoft.com/office/drawing/2014/main" id="{74380156-853C-4E8F-974F-66B7EFDC5374}"/>
              </a:ext>
            </a:extLst>
          </p:cNvPr>
          <p:cNvGraphicFramePr>
            <a:graphicFrameLocks noGrp="1"/>
          </p:cNvGraphicFramePr>
          <p:nvPr>
            <p:extLst>
              <p:ext uri="{D42A27DB-BD31-4B8C-83A1-F6EECF244321}">
                <p14:modId xmlns:p14="http://schemas.microsoft.com/office/powerpoint/2010/main" val="1730567960"/>
              </p:ext>
            </p:extLst>
          </p:nvPr>
        </p:nvGraphicFramePr>
        <p:xfrm>
          <a:off x="418522" y="2511011"/>
          <a:ext cx="2781878" cy="2086089"/>
        </p:xfrm>
        <a:graphic>
          <a:graphicData uri="http://schemas.openxmlformats.org/drawingml/2006/table">
            <a:tbl>
              <a:tblPr firstRow="1" bandRow="1">
                <a:tableStyleId>{5C22544A-7EE6-4342-B048-85BDC9FD1C3A}</a:tableStyleId>
              </a:tblPr>
              <a:tblGrid>
                <a:gridCol w="2781878">
                  <a:extLst>
                    <a:ext uri="{9D8B030D-6E8A-4147-A177-3AD203B41FA5}">
                      <a16:colId xmlns:a16="http://schemas.microsoft.com/office/drawing/2014/main" val="968018634"/>
                    </a:ext>
                  </a:extLst>
                </a:gridCol>
              </a:tblGrid>
              <a:tr h="2086089">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CA" sz="1050" noProof="0" dirty="0">
                          <a:solidFill>
                            <a:srgbClr val="C00000"/>
                          </a:solidFill>
                        </a:rPr>
                        <a:t>Cost Coverage Requirement</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CA" sz="1050" noProof="0" dirty="0">
                          <a:solidFill>
                            <a:srgbClr val="C00000"/>
                          </a:solidFill>
                        </a:rPr>
                        <a:t> </a:t>
                      </a:r>
                      <a:endParaRPr lang="en-CA" sz="1050" b="1" noProof="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CA" sz="1050" b="1" noProof="0" dirty="0">
                          <a:solidFill>
                            <a:schemeClr val="tx1"/>
                          </a:solidFill>
                        </a:rPr>
                        <a:t>RESL</a:t>
                      </a:r>
                    </a:p>
                    <a:p>
                      <a:pPr marL="228600" lvl="0" indent="-228600">
                        <a:buFont typeface="+mj-lt"/>
                        <a:buAutoNum type="arabicPeriod"/>
                      </a:pPr>
                      <a:r>
                        <a:rPr lang="en-CA" sz="1050" b="0" kern="1200" dirty="0">
                          <a:solidFill>
                            <a:schemeClr val="tx1"/>
                          </a:solidFill>
                          <a:latin typeface="+mn-lt"/>
                          <a:ea typeface="+mn-ea"/>
                          <a:cs typeface="+mn-cs"/>
                        </a:rPr>
                        <a:t>Project Delivery Contractor Costs</a:t>
                      </a:r>
                    </a:p>
                    <a:p>
                      <a:pPr marL="228600" lvl="0" indent="-228600">
                        <a:buFont typeface="+mj-lt"/>
                        <a:buAutoNum type="arabicPeriod"/>
                      </a:pPr>
                      <a:r>
                        <a:rPr lang="en-CA" sz="1050" b="0" kern="1200" dirty="0">
                          <a:solidFill>
                            <a:schemeClr val="tx1"/>
                          </a:solidFill>
                          <a:latin typeface="+mn-lt"/>
                          <a:ea typeface="+mn-ea"/>
                          <a:cs typeface="+mn-cs"/>
                        </a:rPr>
                        <a:t>Business Costs – Point Being Paid Out</a:t>
                      </a:r>
                    </a:p>
                    <a:p>
                      <a:pPr marL="228600" lvl="0" indent="-228600">
                        <a:buFont typeface="+mj-lt"/>
                        <a:buAutoNum type="arabicPeriod"/>
                      </a:pPr>
                      <a:r>
                        <a:rPr lang="en-CA" sz="1050" b="0" kern="1200" dirty="0">
                          <a:solidFill>
                            <a:schemeClr val="tx1"/>
                          </a:solidFill>
                          <a:latin typeface="+mn-lt"/>
                          <a:ea typeface="+mn-ea"/>
                          <a:cs typeface="+mn-cs"/>
                        </a:rPr>
                        <a:t>Direct Mail </a:t>
                      </a:r>
                    </a:p>
                    <a:p>
                      <a:pPr marL="228600" lvl="0" indent="-228600">
                        <a:buFont typeface="+mj-lt"/>
                        <a:buAutoNum type="arabicPeriod"/>
                      </a:pPr>
                      <a:r>
                        <a:rPr lang="en-CA" sz="1050" b="0" kern="1200" dirty="0">
                          <a:solidFill>
                            <a:schemeClr val="tx1"/>
                          </a:solidFill>
                          <a:latin typeface="+mn-lt"/>
                          <a:ea typeface="+mn-ea"/>
                          <a:cs typeface="+mn-cs"/>
                        </a:rPr>
                        <a:t>RO support</a:t>
                      </a:r>
                    </a:p>
                    <a:p>
                      <a:pPr marL="228600" lvl="0" indent="-228600">
                        <a:buFont typeface="+mj-lt"/>
                        <a:buAutoNum type="arabicPeriod"/>
                      </a:pPr>
                      <a:r>
                        <a:rPr lang="en-CA" sz="1050" b="0" kern="1200" dirty="0">
                          <a:solidFill>
                            <a:schemeClr val="tx1"/>
                          </a:solidFill>
                          <a:latin typeface="+mn-lt"/>
                          <a:ea typeface="+mn-ea"/>
                          <a:cs typeface="+mn-cs"/>
                        </a:rPr>
                        <a:t>Forms Management (if legal/compliance believe update should be done)</a:t>
                      </a:r>
                    </a:p>
                    <a:p>
                      <a:pPr marL="0" lvl="0" indent="0">
                        <a:buFont typeface="+mj-lt"/>
                        <a:buNone/>
                      </a:pPr>
                      <a:endParaRPr lang="en-CA" sz="1050" b="1" kern="1200" dirty="0">
                        <a:solidFill>
                          <a:schemeClr val="tx1"/>
                        </a:solidFill>
                        <a:latin typeface="+mn-lt"/>
                        <a:ea typeface="+mn-ea"/>
                        <a:cs typeface="+mn-cs"/>
                      </a:endParaRPr>
                    </a:p>
                    <a:p>
                      <a:pPr marL="0" lvl="0" indent="0">
                        <a:buFont typeface="+mj-lt"/>
                        <a:buNone/>
                      </a:pPr>
                      <a:r>
                        <a:rPr lang="en-CA" sz="1050" b="1" kern="1200" dirty="0">
                          <a:solidFill>
                            <a:schemeClr val="tx1"/>
                          </a:solidFill>
                          <a:latin typeface="+mn-lt"/>
                          <a:ea typeface="+mn-ea"/>
                          <a:cs typeface="+mn-cs"/>
                        </a:rPr>
                        <a:t>Technology</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050" b="0" kern="1200" noProof="0" dirty="0">
                          <a:solidFill>
                            <a:schemeClr val="tx1"/>
                          </a:solidFill>
                          <a:effectLst/>
                          <a:latin typeface="+mn-lt"/>
                          <a:ea typeface="+mn-ea"/>
                          <a:cs typeface="+mn-cs"/>
                        </a:rPr>
                        <a:t>Decommissioning Eureka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8277223"/>
                  </a:ext>
                </a:extLst>
              </a:tr>
            </a:tbl>
          </a:graphicData>
        </a:graphic>
      </p:graphicFrame>
      <p:graphicFrame>
        <p:nvGraphicFramePr>
          <p:cNvPr id="20" name="Table 19">
            <a:extLst>
              <a:ext uri="{FF2B5EF4-FFF2-40B4-BE49-F238E27FC236}">
                <a16:creationId xmlns:a16="http://schemas.microsoft.com/office/drawing/2014/main" id="{FD2302E8-9C20-480F-92FE-3D4FC4394A35}"/>
              </a:ext>
            </a:extLst>
          </p:cNvPr>
          <p:cNvGraphicFramePr>
            <a:graphicFrameLocks noGrp="1"/>
          </p:cNvGraphicFramePr>
          <p:nvPr>
            <p:extLst>
              <p:ext uri="{D42A27DB-BD31-4B8C-83A1-F6EECF244321}">
                <p14:modId xmlns:p14="http://schemas.microsoft.com/office/powerpoint/2010/main" val="1815091023"/>
              </p:ext>
            </p:extLst>
          </p:nvPr>
        </p:nvGraphicFramePr>
        <p:xfrm>
          <a:off x="3276600" y="2511010"/>
          <a:ext cx="5307017" cy="2822990"/>
        </p:xfrm>
        <a:graphic>
          <a:graphicData uri="http://schemas.openxmlformats.org/drawingml/2006/table">
            <a:tbl>
              <a:tblPr firstRow="1" bandRow="1">
                <a:tableStyleId>{5C22544A-7EE6-4342-B048-85BDC9FD1C3A}</a:tableStyleId>
              </a:tblPr>
              <a:tblGrid>
                <a:gridCol w="5307017">
                  <a:extLst>
                    <a:ext uri="{9D8B030D-6E8A-4147-A177-3AD203B41FA5}">
                      <a16:colId xmlns:a16="http://schemas.microsoft.com/office/drawing/2014/main" val="968018634"/>
                    </a:ext>
                  </a:extLst>
                </a:gridCol>
              </a:tblGrid>
              <a:tr h="2822990">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CA" sz="1050" noProof="0" dirty="0">
                          <a:solidFill>
                            <a:srgbClr val="C00000"/>
                          </a:solidFill>
                        </a:rPr>
                        <a:t>Cost Breakdown (RESL)</a:t>
                      </a:r>
                      <a:endParaRPr lang="en-CA" sz="1050" b="0" noProof="0"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CA" sz="1050" b="0" noProof="0" dirty="0">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050" b="0" noProof="0" dirty="0">
                          <a:solidFill>
                            <a:schemeClr val="tx1"/>
                          </a:solidFill>
                        </a:rPr>
                        <a:t>1 Aeroplan point for every dollar of interest paid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050" b="0" noProof="0" dirty="0">
                          <a:solidFill>
                            <a:schemeClr val="tx1"/>
                          </a:solidFill>
                        </a:rPr>
                        <a:t>1 Aeroplan point cost CIBC $0.01</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CA" sz="1050" b="0" noProof="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050" b="0" noProof="0" dirty="0">
                          <a:solidFill>
                            <a:schemeClr val="tx1"/>
                          </a:solidFill>
                        </a:rPr>
                        <a:t>Therefore,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CA" sz="1050" b="0" noProof="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050" b="0" noProof="0" dirty="0">
                          <a:solidFill>
                            <a:schemeClr val="tx1"/>
                          </a:solidFill>
                        </a:rPr>
                        <a:t>RESL’s Cost to Payout Points: ~ $3,346 – Appendix 1</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CA" sz="1050" b="1" u="sng" noProof="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CA" sz="1050" b="1" u="sng" noProof="0" dirty="0">
                          <a:solidFill>
                            <a:schemeClr val="tx1"/>
                          </a:solidFill>
                        </a:rPr>
                        <a:t>VS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CA" sz="1050" b="0" noProof="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CA" sz="1050" b="0" kern="1200" noProof="0" dirty="0">
                          <a:solidFill>
                            <a:schemeClr val="tx1"/>
                          </a:solidFill>
                          <a:latin typeface="+mn-lt"/>
                          <a:ea typeface="+mn-ea"/>
                          <a:cs typeface="+mn-cs"/>
                        </a:rPr>
                        <a:t>Total Cost of $160,000 per year saved by decommissioning Eureka (</a:t>
                      </a:r>
                      <a:r>
                        <a:rPr lang="en-CA" sz="1050" b="0" noProof="0" dirty="0">
                          <a:solidFill>
                            <a:schemeClr val="tx1"/>
                          </a:solidFill>
                        </a:rPr>
                        <a:t>To The Bank as a Whole)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8277223"/>
                  </a:ext>
                </a:extLst>
              </a:tr>
            </a:tbl>
          </a:graphicData>
        </a:graphic>
      </p:graphicFrame>
      <p:graphicFrame>
        <p:nvGraphicFramePr>
          <p:cNvPr id="11" name="Table 10">
            <a:extLst>
              <a:ext uri="{FF2B5EF4-FFF2-40B4-BE49-F238E27FC236}">
                <a16:creationId xmlns:a16="http://schemas.microsoft.com/office/drawing/2014/main" id="{A403D0A0-1208-4ABF-ABE0-B9DB4AB64AE0}"/>
              </a:ext>
            </a:extLst>
          </p:cNvPr>
          <p:cNvGraphicFramePr>
            <a:graphicFrameLocks noGrp="1"/>
          </p:cNvGraphicFramePr>
          <p:nvPr>
            <p:extLst>
              <p:ext uri="{D42A27DB-BD31-4B8C-83A1-F6EECF244321}">
                <p14:modId xmlns:p14="http://schemas.microsoft.com/office/powerpoint/2010/main" val="4076974329"/>
              </p:ext>
            </p:extLst>
          </p:nvPr>
        </p:nvGraphicFramePr>
        <p:xfrm>
          <a:off x="418522" y="4762500"/>
          <a:ext cx="2781878" cy="571500"/>
        </p:xfrm>
        <a:graphic>
          <a:graphicData uri="http://schemas.openxmlformats.org/drawingml/2006/table">
            <a:tbl>
              <a:tblPr firstRow="1" bandRow="1">
                <a:tableStyleId>{5C22544A-7EE6-4342-B048-85BDC9FD1C3A}</a:tableStyleId>
              </a:tblPr>
              <a:tblGrid>
                <a:gridCol w="2781878">
                  <a:extLst>
                    <a:ext uri="{9D8B030D-6E8A-4147-A177-3AD203B41FA5}">
                      <a16:colId xmlns:a16="http://schemas.microsoft.com/office/drawing/2014/main" val="968018634"/>
                    </a:ext>
                  </a:extLst>
                </a:gridCol>
              </a:tblGrid>
              <a:tr h="407283">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CA" sz="1050" noProof="0" dirty="0">
                          <a:solidFill>
                            <a:srgbClr val="C00000"/>
                          </a:solidFill>
                        </a:rPr>
                        <a:t>Implications</a:t>
                      </a:r>
                      <a:endParaRPr lang="en-CA" sz="1050" b="1" noProof="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CA" sz="1050" b="1" noProof="0" dirty="0">
                        <a:solidFill>
                          <a:schemeClr val="tx1"/>
                        </a:solidFill>
                      </a:endParaRPr>
                    </a:p>
                    <a:p>
                      <a:pPr marL="228600" lvl="0" indent="-228600">
                        <a:buFont typeface="+mj-lt"/>
                        <a:buAutoNum type="arabicPeriod"/>
                      </a:pPr>
                      <a:r>
                        <a:rPr lang="en-CA" sz="1050" b="0" kern="1200" dirty="0">
                          <a:solidFill>
                            <a:schemeClr val="tx1"/>
                          </a:solidFill>
                          <a:latin typeface="+mn-lt"/>
                          <a:ea typeface="+mn-ea"/>
                          <a:cs typeface="+mn-cs"/>
                        </a:rPr>
                        <a:t>Partnership with </a:t>
                      </a:r>
                      <a:r>
                        <a:rPr lang="en-CA" sz="1050" b="0" kern="1200" dirty="0" err="1">
                          <a:solidFill>
                            <a:schemeClr val="tx1"/>
                          </a:solidFill>
                          <a:latin typeface="+mn-lt"/>
                          <a:ea typeface="+mn-ea"/>
                          <a:cs typeface="+mn-cs"/>
                        </a:rPr>
                        <a:t>Aimia</a:t>
                      </a:r>
                      <a:endParaRPr lang="en-CA" sz="105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8277223"/>
                  </a:ext>
                </a:extLst>
              </a:tr>
            </a:tbl>
          </a:graphicData>
        </a:graphic>
      </p:graphicFrame>
      <p:graphicFrame>
        <p:nvGraphicFramePr>
          <p:cNvPr id="12" name="Table 11">
            <a:extLst>
              <a:ext uri="{FF2B5EF4-FFF2-40B4-BE49-F238E27FC236}">
                <a16:creationId xmlns:a16="http://schemas.microsoft.com/office/drawing/2014/main" id="{2A74CB66-BBB8-4DA2-B861-D642A2A90F51}"/>
              </a:ext>
            </a:extLst>
          </p:cNvPr>
          <p:cNvGraphicFramePr>
            <a:graphicFrameLocks noGrp="1"/>
          </p:cNvGraphicFramePr>
          <p:nvPr>
            <p:extLst>
              <p:ext uri="{D42A27DB-BD31-4B8C-83A1-F6EECF244321}">
                <p14:modId xmlns:p14="http://schemas.microsoft.com/office/powerpoint/2010/main" val="1006573559"/>
              </p:ext>
            </p:extLst>
          </p:nvPr>
        </p:nvGraphicFramePr>
        <p:xfrm>
          <a:off x="430125" y="5410200"/>
          <a:ext cx="8180475" cy="1247962"/>
        </p:xfrm>
        <a:graphic>
          <a:graphicData uri="http://schemas.openxmlformats.org/drawingml/2006/table">
            <a:tbl>
              <a:tblPr firstRow="1" bandRow="1">
                <a:tableStyleId>{5C22544A-7EE6-4342-B048-85BDC9FD1C3A}</a:tableStyleId>
              </a:tblPr>
              <a:tblGrid>
                <a:gridCol w="8180475">
                  <a:extLst>
                    <a:ext uri="{9D8B030D-6E8A-4147-A177-3AD203B41FA5}">
                      <a16:colId xmlns:a16="http://schemas.microsoft.com/office/drawing/2014/main" val="968018634"/>
                    </a:ext>
                  </a:extLst>
                </a:gridCol>
              </a:tblGrid>
              <a:tr h="1247962">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CA" sz="1050" b="1" kern="1200" noProof="0" dirty="0">
                          <a:solidFill>
                            <a:srgbClr val="C00000"/>
                          </a:solidFill>
                          <a:latin typeface="+mn-lt"/>
                          <a:ea typeface="+mn-ea"/>
                          <a:cs typeface="+mn-cs"/>
                        </a:rPr>
                        <a:t>Solution (RESL)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0" kern="1200" dirty="0">
                          <a:solidFill>
                            <a:schemeClr val="tx1"/>
                          </a:solidFill>
                          <a:latin typeface="+mn-lt"/>
                          <a:ea typeface="+mn-ea"/>
                          <a:cs typeface="+mn-cs"/>
                        </a:rPr>
                        <a:t>Eureka &amp; Excalibur teams will calculate the total number of points to be paid out for each mortgage. One point will be awarded for every dollar of interest the client is projected to pay for the remainder of their term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0" kern="1200" dirty="0">
                          <a:solidFill>
                            <a:schemeClr val="tx1"/>
                          </a:solidFill>
                          <a:latin typeface="+mn-lt"/>
                          <a:ea typeface="+mn-ea"/>
                          <a:cs typeface="+mn-cs"/>
                        </a:rPr>
                        <a:t>RO users will manually input the payout balance into Eureka for each mortgage. RO will also </a:t>
                      </a:r>
                      <a:r>
                        <a:rPr lang="en-CA" sz="1050" b="0" kern="1200" dirty="0">
                          <a:solidFill>
                            <a:schemeClr val="tx1"/>
                          </a:solidFill>
                          <a:latin typeface="+mn-lt"/>
                          <a:ea typeface="+mn-ea"/>
                          <a:cs typeface="+mn-cs"/>
                        </a:rPr>
                        <a:t>post message on Excalibur advising of the payout for awareness</a:t>
                      </a:r>
                      <a:endParaRPr lang="en-US" sz="1050" b="0" kern="1200" dirty="0">
                        <a:solidFill>
                          <a:schemeClr val="tx1"/>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050" b="0" kern="1200" dirty="0">
                          <a:solidFill>
                            <a:schemeClr val="tx1"/>
                          </a:solidFill>
                          <a:latin typeface="+mn-lt"/>
                          <a:ea typeface="+mn-ea"/>
                          <a:cs typeface="+mn-cs"/>
                        </a:rPr>
                        <a:t>Letters will be generated, printed, and mailed out by RO. Client and account data required for mail merge will be provided by Excalibur team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050" b="0" kern="1200" dirty="0">
                          <a:solidFill>
                            <a:schemeClr val="tx1"/>
                          </a:solidFill>
                          <a:latin typeface="+mn-lt"/>
                          <a:ea typeface="+mn-ea"/>
                          <a:cs typeface="+mn-cs"/>
                        </a:rPr>
                        <a:t>PBPT will decommission Eureka and related components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8277223"/>
                  </a:ext>
                </a:extLst>
              </a:tr>
            </a:tbl>
          </a:graphicData>
        </a:graphic>
      </p:graphicFrame>
      <p:graphicFrame>
        <p:nvGraphicFramePr>
          <p:cNvPr id="13" name="Table 12">
            <a:extLst>
              <a:ext uri="{FF2B5EF4-FFF2-40B4-BE49-F238E27FC236}">
                <a16:creationId xmlns:a16="http://schemas.microsoft.com/office/drawing/2014/main" id="{8F9108DD-1E48-41FA-9E1A-5D4540DD3ED8}"/>
              </a:ext>
            </a:extLst>
          </p:cNvPr>
          <p:cNvGraphicFramePr>
            <a:graphicFrameLocks noGrp="1"/>
          </p:cNvGraphicFramePr>
          <p:nvPr>
            <p:extLst>
              <p:ext uri="{D42A27DB-BD31-4B8C-83A1-F6EECF244321}">
                <p14:modId xmlns:p14="http://schemas.microsoft.com/office/powerpoint/2010/main" val="538277931"/>
              </p:ext>
            </p:extLst>
          </p:nvPr>
        </p:nvGraphicFramePr>
        <p:xfrm>
          <a:off x="418522" y="1066800"/>
          <a:ext cx="8165095" cy="1371600"/>
        </p:xfrm>
        <a:graphic>
          <a:graphicData uri="http://schemas.openxmlformats.org/drawingml/2006/table">
            <a:tbl>
              <a:tblPr firstRow="1" bandRow="1">
                <a:tableStyleId>{5C22544A-7EE6-4342-B048-85BDC9FD1C3A}</a:tableStyleId>
              </a:tblPr>
              <a:tblGrid>
                <a:gridCol w="8165095">
                  <a:extLst>
                    <a:ext uri="{9D8B030D-6E8A-4147-A177-3AD203B41FA5}">
                      <a16:colId xmlns:a16="http://schemas.microsoft.com/office/drawing/2014/main" val="968018634"/>
                    </a:ext>
                  </a:extLst>
                </a:gridCol>
              </a:tblGrid>
              <a:tr h="1247963">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CA" sz="1050" noProof="0" dirty="0">
                          <a:solidFill>
                            <a:srgbClr val="C00000"/>
                          </a:solidFill>
                        </a:rPr>
                        <a:t>Ask</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050" b="0" kern="1200" noProof="0" dirty="0">
                          <a:solidFill>
                            <a:schemeClr val="tx1"/>
                          </a:solidFill>
                          <a:effectLst/>
                          <a:latin typeface="+mn-lt"/>
                          <a:ea typeface="+mn-ea"/>
                          <a:cs typeface="+mn-cs"/>
                        </a:rPr>
                        <a:t>23 Aeromortgage clients will remain on Eureka by the end of this year (see Appendix 1 for projections)</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050" b="0" kern="1200" noProof="0" dirty="0">
                          <a:solidFill>
                            <a:schemeClr val="tx1"/>
                          </a:solidFill>
                          <a:effectLst/>
                          <a:latin typeface="+mn-lt"/>
                          <a:ea typeface="+mn-ea"/>
                          <a:cs typeface="+mn-cs"/>
                        </a:rPr>
                        <a:t>Technology would like to decommission the Aeroplan miles payment system Eureka on the basis of:</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050" b="1" kern="1200" noProof="0" dirty="0">
                          <a:solidFill>
                            <a:schemeClr val="tx1"/>
                          </a:solidFill>
                          <a:effectLst/>
                          <a:latin typeface="+mn-lt"/>
                          <a:ea typeface="+mn-ea"/>
                          <a:cs typeface="+mn-cs"/>
                        </a:rPr>
                        <a:t>        Running Cost + System Failure Risk (opportunity cost) &gt; NPV of Paying Out Total Points Obligated to Clients.</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0" kern="1200" dirty="0">
                          <a:solidFill>
                            <a:schemeClr val="tx1"/>
                          </a:solidFill>
                          <a:latin typeface="+mn-lt"/>
                          <a:ea typeface="+mn-ea"/>
                          <a:cs typeface="+mn-cs"/>
                        </a:rPr>
                        <a:t>Eureka only tracks Aero points for CIBC </a:t>
                      </a:r>
                      <a:r>
                        <a:rPr lang="en-US" sz="1050" b="0" kern="1200" dirty="0" err="1">
                          <a:solidFill>
                            <a:schemeClr val="tx1"/>
                          </a:solidFill>
                          <a:latin typeface="+mn-lt"/>
                          <a:ea typeface="+mn-ea"/>
                          <a:cs typeface="+mn-cs"/>
                        </a:rPr>
                        <a:t>Aeromortgages</a:t>
                      </a:r>
                      <a:r>
                        <a:rPr lang="en-US" sz="1050" b="0" kern="1200" dirty="0">
                          <a:solidFill>
                            <a:schemeClr val="tx1"/>
                          </a:solidFill>
                          <a:latin typeface="+mn-lt"/>
                          <a:ea typeface="+mn-ea"/>
                          <a:cs typeface="+mn-cs"/>
                        </a:rPr>
                        <a:t> and Cards has their own interface with </a:t>
                      </a:r>
                      <a:r>
                        <a:rPr lang="en-US" sz="1050" b="0" kern="1200" dirty="0" err="1">
                          <a:solidFill>
                            <a:schemeClr val="tx1"/>
                          </a:solidFill>
                          <a:latin typeface="+mn-lt"/>
                          <a:ea typeface="+mn-ea"/>
                          <a:cs typeface="+mn-cs"/>
                        </a:rPr>
                        <a:t>Aimia</a:t>
                      </a:r>
                      <a:r>
                        <a:rPr lang="en-US" sz="1050" b="0" kern="1200" dirty="0">
                          <a:solidFill>
                            <a:schemeClr val="tx1"/>
                          </a:solidFill>
                          <a:latin typeface="+mn-lt"/>
                          <a:ea typeface="+mn-ea"/>
                          <a:cs typeface="+mn-cs"/>
                        </a:rPr>
                        <a:t>.  </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050" b="0" kern="1200" dirty="0">
                          <a:solidFill>
                            <a:schemeClr val="tx1"/>
                          </a:solidFill>
                          <a:latin typeface="+mn-lt"/>
                          <a:ea typeface="+mn-ea"/>
                          <a:cs typeface="+mn-cs"/>
                        </a:rPr>
                        <a:t>Propose a one-time AeroPlan points payout - PBPT will project the number of points the clients would have earned for the remainder of their term. Clients will be paid out in advance as a one-time lump sum payment. </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050" b="0" kern="1200" dirty="0">
                          <a:solidFill>
                            <a:schemeClr val="tx1"/>
                          </a:solidFill>
                          <a:latin typeface="+mn-lt"/>
                          <a:ea typeface="+mn-ea"/>
                          <a:cs typeface="+mn-cs"/>
                        </a:rPr>
                        <a:t>Assumption - the mortgages will remain active until the end of their existing term, at existing interest rates, and will remain in good standing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827722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56B78-A1B1-4CAF-BA69-B8A8BF86D7F3}"/>
              </a:ext>
            </a:extLst>
          </p:cNvPr>
          <p:cNvSpPr>
            <a:spLocks noGrp="1"/>
          </p:cNvSpPr>
          <p:nvPr>
            <p:ph type="title"/>
          </p:nvPr>
        </p:nvSpPr>
        <p:spPr>
          <a:xfrm>
            <a:off x="381000" y="76200"/>
            <a:ext cx="8174182" cy="806824"/>
          </a:xfrm>
        </p:spPr>
        <p:txBody>
          <a:bodyPr/>
          <a:lstStyle/>
          <a:p>
            <a:r>
              <a:rPr lang="en-CA" dirty="0">
                <a:solidFill>
                  <a:srgbClr val="C00000"/>
                </a:solidFill>
              </a:rPr>
              <a:t>Appendix 1</a:t>
            </a:r>
            <a:endParaRPr lang="en-US" dirty="0">
              <a:solidFill>
                <a:srgbClr val="C00000"/>
              </a:solidFill>
            </a:endParaRPr>
          </a:p>
        </p:txBody>
      </p:sp>
      <p:sp>
        <p:nvSpPr>
          <p:cNvPr id="4" name="Slide Number Placeholder 3">
            <a:extLst>
              <a:ext uri="{FF2B5EF4-FFF2-40B4-BE49-F238E27FC236}">
                <a16:creationId xmlns:a16="http://schemas.microsoft.com/office/drawing/2014/main" id="{0C118392-DC8E-40A2-9C30-10D81C830137}"/>
              </a:ext>
            </a:extLst>
          </p:cNvPr>
          <p:cNvSpPr>
            <a:spLocks noGrp="1"/>
          </p:cNvSpPr>
          <p:nvPr>
            <p:ph type="sldNum" sz="quarter" idx="4"/>
          </p:nvPr>
        </p:nvSpPr>
        <p:spPr>
          <a:xfrm>
            <a:off x="7211292" y="6406883"/>
            <a:ext cx="1524000" cy="134471"/>
          </a:xfrm>
        </p:spPr>
        <p:txBody>
          <a:bodyPr/>
          <a:lstStyle/>
          <a:p>
            <a:fld id="{FEBD7F86-1881-4698-8703-FB80B0800997}" type="slidenum">
              <a:rPr lang="en-GB" smtClean="0"/>
              <a:pPr/>
              <a:t>2</a:t>
            </a:fld>
            <a:endParaRPr lang="en-GB"/>
          </a:p>
        </p:txBody>
      </p:sp>
      <p:graphicFrame>
        <p:nvGraphicFramePr>
          <p:cNvPr id="7" name="Table 6">
            <a:extLst>
              <a:ext uri="{FF2B5EF4-FFF2-40B4-BE49-F238E27FC236}">
                <a16:creationId xmlns:a16="http://schemas.microsoft.com/office/drawing/2014/main" id="{D6833990-527F-42B2-8B98-D90E47173A36}"/>
              </a:ext>
            </a:extLst>
          </p:cNvPr>
          <p:cNvGraphicFramePr>
            <a:graphicFrameLocks noGrp="1"/>
          </p:cNvGraphicFramePr>
          <p:nvPr>
            <p:extLst>
              <p:ext uri="{D42A27DB-BD31-4B8C-83A1-F6EECF244321}">
                <p14:modId xmlns:p14="http://schemas.microsoft.com/office/powerpoint/2010/main" val="364284301"/>
              </p:ext>
            </p:extLst>
          </p:nvPr>
        </p:nvGraphicFramePr>
        <p:xfrm>
          <a:off x="457200" y="3905729"/>
          <a:ext cx="6510020" cy="2743200"/>
        </p:xfrm>
        <a:graphic>
          <a:graphicData uri="http://schemas.openxmlformats.org/drawingml/2006/table">
            <a:tbl>
              <a:tblPr firstRow="1" firstCol="1" bandRow="1">
                <a:tableStyleId>{85BE263C-DBD7-4A20-BB59-AAB30ACAA65A}</a:tableStyleId>
              </a:tblPr>
              <a:tblGrid>
                <a:gridCol w="1766570">
                  <a:extLst>
                    <a:ext uri="{9D8B030D-6E8A-4147-A177-3AD203B41FA5}">
                      <a16:colId xmlns:a16="http://schemas.microsoft.com/office/drawing/2014/main" val="788490067"/>
                    </a:ext>
                  </a:extLst>
                </a:gridCol>
                <a:gridCol w="3771900">
                  <a:extLst>
                    <a:ext uri="{9D8B030D-6E8A-4147-A177-3AD203B41FA5}">
                      <a16:colId xmlns:a16="http://schemas.microsoft.com/office/drawing/2014/main" val="2167629421"/>
                    </a:ext>
                  </a:extLst>
                </a:gridCol>
                <a:gridCol w="971550">
                  <a:extLst>
                    <a:ext uri="{9D8B030D-6E8A-4147-A177-3AD203B41FA5}">
                      <a16:colId xmlns:a16="http://schemas.microsoft.com/office/drawing/2014/main" val="3811693534"/>
                    </a:ext>
                  </a:extLst>
                </a:gridCol>
              </a:tblGrid>
              <a:tr h="0">
                <a:tc>
                  <a:txBody>
                    <a:bodyPr/>
                    <a:lstStyle/>
                    <a:p>
                      <a:pPr marL="0" marR="0">
                        <a:spcBef>
                          <a:spcPts val="0"/>
                        </a:spcBef>
                        <a:spcAft>
                          <a:spcPts val="0"/>
                        </a:spcAft>
                      </a:pPr>
                      <a:r>
                        <a:rPr lang="en-US" sz="1200">
                          <a:effectLst/>
                        </a:rPr>
                        <a:t>Item</a:t>
                      </a:r>
                      <a:endParaRPr lang="en-US" sz="1100">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200">
                          <a:effectLst/>
                        </a:rPr>
                        <a:t>Description of Activity</a:t>
                      </a:r>
                      <a:endParaRPr lang="en-US" sz="1100">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200">
                          <a:effectLst/>
                        </a:rPr>
                        <a:t>Approx. cost</a:t>
                      </a:r>
                      <a:endParaRPr lang="en-US" sz="1100">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7249104"/>
                  </a:ext>
                </a:extLst>
              </a:tr>
              <a:tr h="0">
                <a:tc>
                  <a:txBody>
                    <a:bodyPr/>
                    <a:lstStyle/>
                    <a:p>
                      <a:pPr marL="0" marR="0">
                        <a:spcBef>
                          <a:spcPts val="0"/>
                        </a:spcBef>
                        <a:spcAft>
                          <a:spcPts val="0"/>
                        </a:spcAft>
                      </a:pPr>
                      <a:r>
                        <a:rPr lang="en-US" sz="1200">
                          <a:effectLst/>
                        </a:rPr>
                        <a:t>Points purchase (1  time)</a:t>
                      </a:r>
                      <a:endParaRPr lang="en-US" sz="1100">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200" dirty="0">
                          <a:effectLst/>
                        </a:rPr>
                        <a:t>193,000 outstanding points at $0.01 per mile</a:t>
                      </a:r>
                      <a:endParaRPr lang="en-US" sz="1100" dirty="0">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200" dirty="0">
                          <a:effectLst/>
                        </a:rPr>
                        <a:t>$1,930.00</a:t>
                      </a:r>
                      <a:endParaRPr lang="en-US" sz="1100" dirty="0">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6283570"/>
                  </a:ext>
                </a:extLst>
              </a:tr>
              <a:tr h="0">
                <a:tc>
                  <a:txBody>
                    <a:bodyPr/>
                    <a:lstStyle/>
                    <a:p>
                      <a:pPr marL="0" marR="0">
                        <a:spcBef>
                          <a:spcPts val="0"/>
                        </a:spcBef>
                        <a:spcAft>
                          <a:spcPts val="0"/>
                        </a:spcAft>
                      </a:pPr>
                      <a:r>
                        <a:rPr lang="en-US" sz="1200">
                          <a:effectLst/>
                        </a:rPr>
                        <a:t>Letter translation</a:t>
                      </a:r>
                      <a:endParaRPr lang="en-US" sz="1100">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200">
                          <a:effectLst/>
                        </a:rPr>
                        <a:t>Approximate</a:t>
                      </a:r>
                      <a:endParaRPr lang="en-US" sz="1100">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200" dirty="0">
                          <a:effectLst/>
                        </a:rPr>
                        <a:t>$150.00</a:t>
                      </a:r>
                      <a:endParaRPr lang="en-US" sz="1100" dirty="0">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7062792"/>
                  </a:ext>
                </a:extLst>
              </a:tr>
              <a:tr h="1176655">
                <a:tc>
                  <a:txBody>
                    <a:bodyPr/>
                    <a:lstStyle/>
                    <a:p>
                      <a:pPr marL="0" marR="0">
                        <a:spcBef>
                          <a:spcPts val="0"/>
                        </a:spcBef>
                        <a:spcAft>
                          <a:spcPts val="0"/>
                        </a:spcAft>
                      </a:pPr>
                      <a:r>
                        <a:rPr lang="en-US" sz="1200" dirty="0">
                          <a:effectLst/>
                        </a:rPr>
                        <a:t>RO</a:t>
                      </a:r>
                      <a:endParaRPr lang="en-US" sz="1100" dirty="0">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200" dirty="0">
                          <a:effectLst/>
                        </a:rPr>
                        <a:t>Estimated total accounts:  23</a:t>
                      </a:r>
                      <a:endParaRPr lang="en-US" sz="1100" dirty="0">
                        <a:effectLst/>
                      </a:endParaRPr>
                    </a:p>
                    <a:p>
                      <a:pPr marL="0" marR="0">
                        <a:spcBef>
                          <a:spcPts val="0"/>
                        </a:spcBef>
                        <a:spcAft>
                          <a:spcPts val="0"/>
                        </a:spcAft>
                      </a:pPr>
                      <a:r>
                        <a:rPr lang="en-US" sz="1200" dirty="0">
                          <a:effectLst/>
                        </a:rPr>
                        <a:t>Estimated total letters:     85 </a:t>
                      </a:r>
                      <a:endParaRPr lang="en-US" sz="1100" dirty="0">
                        <a:effectLst/>
                      </a:endParaRPr>
                    </a:p>
                    <a:p>
                      <a:pPr marL="0" marR="0">
                        <a:spcBef>
                          <a:spcPts val="0"/>
                        </a:spcBef>
                        <a:spcAft>
                          <a:spcPts val="0"/>
                        </a:spcAft>
                      </a:pPr>
                      <a:r>
                        <a:rPr lang="en-US" sz="1200" dirty="0">
                          <a:effectLst/>
                        </a:rPr>
                        <a:t>Points payouts</a:t>
                      </a:r>
                      <a:endParaRPr lang="en-US" sz="1100" dirty="0">
                        <a:effectLst/>
                      </a:endParaRPr>
                    </a:p>
                    <a:p>
                      <a:pPr marL="0" marR="0">
                        <a:spcBef>
                          <a:spcPts val="0"/>
                        </a:spcBef>
                        <a:spcAft>
                          <a:spcPts val="0"/>
                        </a:spcAft>
                      </a:pPr>
                      <a:r>
                        <a:rPr lang="en-US" sz="1200" dirty="0">
                          <a:effectLst/>
                        </a:rPr>
                        <a:t> </a:t>
                      </a:r>
                      <a:endParaRPr lang="en-US" sz="1100" dirty="0">
                        <a:effectLst/>
                      </a:endParaRPr>
                    </a:p>
                    <a:p>
                      <a:pPr marL="0" marR="0">
                        <a:spcBef>
                          <a:spcPts val="0"/>
                        </a:spcBef>
                        <a:spcAft>
                          <a:spcPts val="0"/>
                        </a:spcAft>
                      </a:pPr>
                      <a:r>
                        <a:rPr lang="en-US" sz="1200" dirty="0">
                          <a:effectLst/>
                        </a:rPr>
                        <a:t>Excalibur tasks</a:t>
                      </a:r>
                      <a:endParaRPr lang="en-US" sz="1100" dirty="0">
                        <a:effectLst/>
                      </a:endParaRPr>
                    </a:p>
                    <a:p>
                      <a:pPr marL="342900" marR="0" lvl="0" indent="-342900">
                        <a:spcBef>
                          <a:spcPts val="0"/>
                        </a:spcBef>
                        <a:spcAft>
                          <a:spcPts val="0"/>
                        </a:spcAft>
                        <a:buFont typeface="Symbol" panose="05050102010706020507" pitchFamily="18" charset="2"/>
                        <a:buChar char=""/>
                      </a:pPr>
                      <a:r>
                        <a:rPr lang="en-US" sz="1200" dirty="0">
                          <a:effectLst/>
                        </a:rPr>
                        <a:t>Suppress points functionality</a:t>
                      </a:r>
                      <a:endParaRPr lang="en-US" sz="1100" dirty="0">
                        <a:effectLst/>
                      </a:endParaRPr>
                    </a:p>
                    <a:p>
                      <a:pPr marL="342900" marR="0" lvl="0" indent="-342900">
                        <a:spcBef>
                          <a:spcPts val="0"/>
                        </a:spcBef>
                        <a:spcAft>
                          <a:spcPts val="0"/>
                        </a:spcAft>
                        <a:buFont typeface="Symbol" panose="05050102010706020507" pitchFamily="18" charset="2"/>
                        <a:buChar char=""/>
                      </a:pPr>
                      <a:r>
                        <a:rPr lang="en-US" sz="1200" dirty="0">
                          <a:effectLst/>
                        </a:rPr>
                        <a:t>Add note</a:t>
                      </a:r>
                      <a:endParaRPr lang="en-US" sz="1100" dirty="0">
                        <a:effectLst/>
                      </a:endParaRPr>
                    </a:p>
                    <a:p>
                      <a:pPr marL="0" marR="0">
                        <a:spcBef>
                          <a:spcPts val="0"/>
                        </a:spcBef>
                        <a:spcAft>
                          <a:spcPts val="0"/>
                        </a:spcAft>
                      </a:pPr>
                      <a:r>
                        <a:rPr lang="en-US" sz="1200" dirty="0">
                          <a:effectLst/>
                        </a:rPr>
                        <a:t> </a:t>
                      </a:r>
                      <a:endParaRPr lang="en-US" sz="1100" dirty="0">
                        <a:effectLst/>
                      </a:endParaRPr>
                    </a:p>
                    <a:p>
                      <a:pPr marL="0" marR="0">
                        <a:spcBef>
                          <a:spcPts val="0"/>
                        </a:spcBef>
                        <a:spcAft>
                          <a:spcPts val="0"/>
                        </a:spcAft>
                      </a:pPr>
                      <a:r>
                        <a:rPr lang="en-US" sz="1200" dirty="0">
                          <a:effectLst/>
                        </a:rPr>
                        <a:t>10 hours at $22 per hour (Level3)</a:t>
                      </a:r>
                      <a:endParaRPr lang="en-US" sz="1100" dirty="0">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200" dirty="0">
                          <a:effectLst/>
                        </a:rPr>
                        <a:t>$220.00</a:t>
                      </a:r>
                      <a:endParaRPr lang="en-US" sz="1100" dirty="0">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2435498"/>
                  </a:ext>
                </a:extLst>
              </a:tr>
              <a:tr h="0">
                <a:tc>
                  <a:txBody>
                    <a:bodyPr/>
                    <a:lstStyle/>
                    <a:p>
                      <a:pPr marL="0" marR="0">
                        <a:spcBef>
                          <a:spcPts val="0"/>
                        </a:spcBef>
                        <a:spcAft>
                          <a:spcPts val="0"/>
                        </a:spcAft>
                      </a:pPr>
                      <a:r>
                        <a:rPr lang="en-US" sz="1200" dirty="0">
                          <a:effectLst/>
                        </a:rPr>
                        <a:t>Mailing Costs</a:t>
                      </a:r>
                      <a:endParaRPr lang="en-US" sz="1100" dirty="0">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200">
                          <a:effectLst/>
                        </a:rPr>
                        <a:t>$0.84/each + tax (assuming Canadian addresses).</a:t>
                      </a:r>
                      <a:endParaRPr lang="en-US" sz="1100">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200" dirty="0">
                          <a:effectLst/>
                        </a:rPr>
                        <a:t>$81.00</a:t>
                      </a:r>
                      <a:endParaRPr lang="en-US" sz="1100" dirty="0">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0827514"/>
                  </a:ext>
                </a:extLst>
              </a:tr>
              <a:tr h="0">
                <a:tc>
                  <a:txBody>
                    <a:bodyPr/>
                    <a:lstStyle/>
                    <a:p>
                      <a:pPr marL="0" marR="0">
                        <a:spcBef>
                          <a:spcPts val="0"/>
                        </a:spcBef>
                        <a:spcAft>
                          <a:spcPts val="0"/>
                        </a:spcAft>
                      </a:pPr>
                      <a:r>
                        <a:rPr lang="en-US" sz="1200">
                          <a:effectLst/>
                        </a:rPr>
                        <a:t>Contingency</a:t>
                      </a:r>
                      <a:endParaRPr lang="en-US" sz="1100">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200">
                          <a:effectLst/>
                        </a:rPr>
                        <a:t>50%</a:t>
                      </a:r>
                      <a:endParaRPr lang="en-US" sz="1100">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200" dirty="0">
                          <a:effectLst/>
                        </a:rPr>
                        <a:t>$965.00</a:t>
                      </a:r>
                      <a:endParaRPr lang="en-US" sz="1100" dirty="0">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829628"/>
                  </a:ext>
                </a:extLst>
              </a:tr>
              <a:tr h="0">
                <a:tc>
                  <a:txBody>
                    <a:bodyPr/>
                    <a:lstStyle/>
                    <a:p>
                      <a:pPr marL="0" marR="0">
                        <a:spcBef>
                          <a:spcPts val="0"/>
                        </a:spcBef>
                        <a:spcAft>
                          <a:spcPts val="0"/>
                        </a:spcAft>
                      </a:pPr>
                      <a:r>
                        <a:rPr lang="en-US" sz="1200">
                          <a:effectLst/>
                        </a:rPr>
                        <a:t>Total</a:t>
                      </a:r>
                      <a:endParaRPr lang="en-US" sz="1100">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200">
                          <a:effectLst/>
                        </a:rPr>
                        <a:t> </a:t>
                      </a:r>
                      <a:endParaRPr lang="en-US" sz="1100">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200" dirty="0">
                          <a:effectLst/>
                        </a:rPr>
                        <a:t>$3,346.00</a:t>
                      </a:r>
                      <a:endParaRPr lang="en-US" sz="1100" dirty="0">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7031514"/>
                  </a:ext>
                </a:extLst>
              </a:tr>
            </a:tbl>
          </a:graphicData>
        </a:graphic>
      </p:graphicFrame>
      <p:sp>
        <p:nvSpPr>
          <p:cNvPr id="8" name="Rectangle 2">
            <a:extLst>
              <a:ext uri="{FF2B5EF4-FFF2-40B4-BE49-F238E27FC236}">
                <a16:creationId xmlns:a16="http://schemas.microsoft.com/office/drawing/2014/main" id="{A35524AF-E9BD-44AC-A4AD-C01DA1A9B12C}"/>
              </a:ext>
            </a:extLst>
          </p:cNvPr>
          <p:cNvSpPr>
            <a:spLocks noChangeArrowheads="1"/>
          </p:cNvSpPr>
          <p:nvPr/>
        </p:nvSpPr>
        <p:spPr bwMode="auto">
          <a:xfrm>
            <a:off x="357167" y="377783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Table 8">
            <a:extLst>
              <a:ext uri="{FF2B5EF4-FFF2-40B4-BE49-F238E27FC236}">
                <a16:creationId xmlns:a16="http://schemas.microsoft.com/office/drawing/2014/main" id="{DC330D3E-8D56-470B-894A-62BEEFA85CD2}"/>
              </a:ext>
            </a:extLst>
          </p:cNvPr>
          <p:cNvGraphicFramePr>
            <a:graphicFrameLocks noGrp="1"/>
          </p:cNvGraphicFramePr>
          <p:nvPr>
            <p:extLst>
              <p:ext uri="{D42A27DB-BD31-4B8C-83A1-F6EECF244321}">
                <p14:modId xmlns:p14="http://schemas.microsoft.com/office/powerpoint/2010/main" val="2632465196"/>
              </p:ext>
            </p:extLst>
          </p:nvPr>
        </p:nvGraphicFramePr>
        <p:xfrm>
          <a:off x="457200" y="3525147"/>
          <a:ext cx="1828800" cy="285749"/>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968018634"/>
                    </a:ext>
                  </a:extLst>
                </a:gridCol>
              </a:tblGrid>
              <a:tr h="285749">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CA" sz="1050" noProof="0" dirty="0">
                          <a:solidFill>
                            <a:srgbClr val="C00000"/>
                          </a:solidFill>
                        </a:rPr>
                        <a:t>RESL’s Cost of Payout Points</a:t>
                      </a:r>
                      <a:endParaRPr lang="en-CA" sz="105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8277223"/>
                  </a:ext>
                </a:extLst>
              </a:tr>
            </a:tbl>
          </a:graphicData>
        </a:graphic>
      </p:graphicFrame>
      <p:graphicFrame>
        <p:nvGraphicFramePr>
          <p:cNvPr id="11" name="Table 10">
            <a:extLst>
              <a:ext uri="{FF2B5EF4-FFF2-40B4-BE49-F238E27FC236}">
                <a16:creationId xmlns:a16="http://schemas.microsoft.com/office/drawing/2014/main" id="{8951F647-FFE9-450B-AAC7-13A92CDB6023}"/>
              </a:ext>
            </a:extLst>
          </p:cNvPr>
          <p:cNvGraphicFramePr>
            <a:graphicFrameLocks noGrp="1"/>
          </p:cNvGraphicFramePr>
          <p:nvPr>
            <p:extLst>
              <p:ext uri="{D42A27DB-BD31-4B8C-83A1-F6EECF244321}">
                <p14:modId xmlns:p14="http://schemas.microsoft.com/office/powerpoint/2010/main" val="4073098187"/>
              </p:ext>
            </p:extLst>
          </p:nvPr>
        </p:nvGraphicFramePr>
        <p:xfrm>
          <a:off x="457200" y="1413234"/>
          <a:ext cx="2438400" cy="1715352"/>
        </p:xfrm>
        <a:graphic>
          <a:graphicData uri="http://schemas.openxmlformats.org/drawingml/2006/table">
            <a:tbl>
              <a:tblPr firstRow="1" firstCol="1" bandRow="1">
                <a:tableStyleId>{72833802-FEF1-4C79-8D5D-14CF1EAF98D9}</a:tableStyleId>
              </a:tblPr>
              <a:tblGrid>
                <a:gridCol w="910542">
                  <a:extLst>
                    <a:ext uri="{9D8B030D-6E8A-4147-A177-3AD203B41FA5}">
                      <a16:colId xmlns:a16="http://schemas.microsoft.com/office/drawing/2014/main" val="3487980623"/>
                    </a:ext>
                  </a:extLst>
                </a:gridCol>
                <a:gridCol w="1527858">
                  <a:extLst>
                    <a:ext uri="{9D8B030D-6E8A-4147-A177-3AD203B41FA5}">
                      <a16:colId xmlns:a16="http://schemas.microsoft.com/office/drawing/2014/main" val="3995543485"/>
                    </a:ext>
                  </a:extLst>
                </a:gridCol>
              </a:tblGrid>
              <a:tr h="303616">
                <a:tc>
                  <a:txBody>
                    <a:bodyPr/>
                    <a:lstStyle/>
                    <a:p>
                      <a:pPr marL="0" marR="0">
                        <a:spcBef>
                          <a:spcPts val="0"/>
                        </a:spcBef>
                        <a:spcAft>
                          <a:spcPts val="0"/>
                        </a:spcAft>
                      </a:pPr>
                      <a:r>
                        <a:rPr lang="en-US" sz="1100" smtClean="0">
                          <a:effectLst/>
                        </a:rPr>
                        <a:t>Year`</a:t>
                      </a:r>
                      <a:endParaRPr lang="en-US" sz="1100" dirty="0">
                        <a:effectLst/>
                        <a:latin typeface="Calibri" panose="020F0502020204030204" pitchFamily="34" charset="0"/>
                        <a:ea typeface="Calibri" panose="020F0502020204030204" pitchFamily="34" charset="0"/>
                      </a:endParaRPr>
                    </a:p>
                  </a:txBody>
                  <a:tcPr marL="68580" marR="68580" marT="0" marB="0" anchor="b">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100" dirty="0">
                          <a:effectLst/>
                        </a:rPr>
                        <a:t>Count of </a:t>
                      </a:r>
                      <a:r>
                        <a:rPr lang="en-US" sz="1100" dirty="0" err="1">
                          <a:effectLst/>
                        </a:rPr>
                        <a:t>AeroMortgage</a:t>
                      </a:r>
                      <a:r>
                        <a:rPr lang="en-US" sz="1100" dirty="0">
                          <a:effectLst/>
                        </a:rPr>
                        <a:t> Clients</a:t>
                      </a:r>
                      <a:endParaRPr lang="en-US" sz="1100" dirty="0">
                        <a:effectLst/>
                        <a:latin typeface="Calibri" panose="020F0502020204030204" pitchFamily="34" charset="0"/>
                        <a:ea typeface="Calibri" panose="020F0502020204030204" pitchFamily="34" charset="0"/>
                      </a:endParaRPr>
                    </a:p>
                  </a:txBody>
                  <a:tcPr marL="68580" marR="68580" marT="0"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6753619"/>
                  </a:ext>
                </a:extLst>
              </a:tr>
              <a:tr h="172509">
                <a:tc>
                  <a:txBody>
                    <a:bodyPr/>
                    <a:lstStyle/>
                    <a:p>
                      <a:pPr marL="0" marR="0">
                        <a:spcBef>
                          <a:spcPts val="0"/>
                        </a:spcBef>
                        <a:spcAft>
                          <a:spcPts val="0"/>
                        </a:spcAft>
                      </a:pPr>
                      <a:r>
                        <a:rPr lang="en-US" sz="1000" dirty="0">
                          <a:effectLst/>
                        </a:rPr>
                        <a:t>2016</a:t>
                      </a:r>
                      <a:endParaRPr lang="en-US" sz="1000" dirty="0">
                        <a:effectLst/>
                        <a:latin typeface="Calibri" panose="020F0502020204030204" pitchFamily="34" charset="0"/>
                        <a:ea typeface="Calibri" panose="020F0502020204030204" pitchFamily="34"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000" dirty="0">
                          <a:effectLst/>
                        </a:rPr>
                        <a:t>424</a:t>
                      </a:r>
                      <a:endParaRPr lang="en-US" sz="1000" dirty="0">
                        <a:effectLst/>
                        <a:latin typeface="Calibri" panose="020F0502020204030204" pitchFamily="34" charset="0"/>
                        <a:ea typeface="Calibri" panose="020F0502020204030204" pitchFamily="34"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3047835"/>
                  </a:ext>
                </a:extLst>
              </a:tr>
              <a:tr h="172509">
                <a:tc>
                  <a:txBody>
                    <a:bodyPr/>
                    <a:lstStyle/>
                    <a:p>
                      <a:pPr marL="0" marR="0">
                        <a:spcBef>
                          <a:spcPts val="0"/>
                        </a:spcBef>
                        <a:spcAft>
                          <a:spcPts val="0"/>
                        </a:spcAft>
                      </a:pPr>
                      <a:r>
                        <a:rPr lang="en-US" sz="1000" dirty="0">
                          <a:effectLst/>
                        </a:rPr>
                        <a:t>2017</a:t>
                      </a:r>
                      <a:endParaRPr lang="en-US" sz="1000" dirty="0">
                        <a:effectLst/>
                        <a:latin typeface="Calibri" panose="020F0502020204030204" pitchFamily="34" charset="0"/>
                        <a:ea typeface="Calibri" panose="020F0502020204030204" pitchFamily="34"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000" dirty="0">
                          <a:effectLst/>
                        </a:rPr>
                        <a:t>332</a:t>
                      </a:r>
                      <a:endParaRPr lang="en-US" sz="1000" dirty="0">
                        <a:effectLst/>
                        <a:latin typeface="Calibri" panose="020F0502020204030204" pitchFamily="34" charset="0"/>
                        <a:ea typeface="Calibri" panose="020F0502020204030204" pitchFamily="34"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7584475"/>
                  </a:ext>
                </a:extLst>
              </a:tr>
              <a:tr h="172509">
                <a:tc>
                  <a:txBody>
                    <a:bodyPr/>
                    <a:lstStyle/>
                    <a:p>
                      <a:pPr marL="0" marR="0">
                        <a:spcBef>
                          <a:spcPts val="0"/>
                        </a:spcBef>
                        <a:spcAft>
                          <a:spcPts val="0"/>
                        </a:spcAft>
                      </a:pPr>
                      <a:r>
                        <a:rPr lang="en-US" sz="1000" dirty="0">
                          <a:effectLst/>
                        </a:rPr>
                        <a:t>2018</a:t>
                      </a:r>
                      <a:endParaRPr lang="en-US" sz="1000" dirty="0">
                        <a:effectLst/>
                        <a:latin typeface="Calibri" panose="020F0502020204030204" pitchFamily="34" charset="0"/>
                        <a:ea typeface="Calibri" panose="020F0502020204030204" pitchFamily="34"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defTabSz="914400" rtl="0" eaLnBrk="1" latinLnBrk="0" hangingPunct="1">
                        <a:spcBef>
                          <a:spcPts val="0"/>
                        </a:spcBef>
                        <a:spcAft>
                          <a:spcPts val="0"/>
                        </a:spcAft>
                      </a:pPr>
                      <a:r>
                        <a:rPr lang="en-US" sz="1000" kern="1200" dirty="0">
                          <a:solidFill>
                            <a:schemeClr val="tx1"/>
                          </a:solidFill>
                          <a:effectLst/>
                          <a:latin typeface="+mn-lt"/>
                          <a:ea typeface="+mn-ea"/>
                          <a:cs typeface="+mn-cs"/>
                        </a:rPr>
                        <a:t>163</a:t>
                      </a: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1231887"/>
                  </a:ext>
                </a:extLst>
              </a:tr>
              <a:tr h="172509">
                <a:tc>
                  <a:txBody>
                    <a:bodyPr/>
                    <a:lstStyle/>
                    <a:p>
                      <a:pPr marL="0" marR="0">
                        <a:spcBef>
                          <a:spcPts val="0"/>
                        </a:spcBef>
                        <a:spcAft>
                          <a:spcPts val="0"/>
                        </a:spcAft>
                      </a:pPr>
                      <a:r>
                        <a:rPr lang="en-US" sz="1000">
                          <a:effectLst/>
                        </a:rPr>
                        <a:t>2019</a:t>
                      </a:r>
                      <a:endParaRPr lang="en-US" sz="1000">
                        <a:effectLst/>
                        <a:latin typeface="Calibri" panose="020F0502020204030204" pitchFamily="34" charset="0"/>
                        <a:ea typeface="Calibri" panose="020F0502020204030204" pitchFamily="34"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defTabSz="914400" rtl="0" eaLnBrk="1" latinLnBrk="0" hangingPunct="1">
                        <a:spcBef>
                          <a:spcPts val="0"/>
                        </a:spcBef>
                        <a:spcAft>
                          <a:spcPts val="0"/>
                        </a:spcAft>
                      </a:pPr>
                      <a:r>
                        <a:rPr lang="en-CA" sz="1000" kern="1200" dirty="0">
                          <a:solidFill>
                            <a:schemeClr val="tx1"/>
                          </a:solidFill>
                          <a:effectLst/>
                          <a:latin typeface="+mn-lt"/>
                          <a:ea typeface="+mn-ea"/>
                          <a:cs typeface="+mn-cs"/>
                        </a:rPr>
                        <a:t>3</a:t>
                      </a:r>
                      <a:r>
                        <a:rPr lang="en-US" sz="1000" kern="1200" dirty="0">
                          <a:solidFill>
                            <a:schemeClr val="tx1"/>
                          </a:solidFill>
                          <a:effectLst/>
                          <a:latin typeface="+mn-lt"/>
                          <a:ea typeface="+mn-ea"/>
                          <a:cs typeface="+mn-cs"/>
                        </a:rPr>
                        <a:t>7</a:t>
                      </a: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216146"/>
                  </a:ext>
                </a:extLst>
              </a:tr>
              <a:tr h="172509">
                <a:tc>
                  <a:txBody>
                    <a:bodyPr/>
                    <a:lstStyle/>
                    <a:p>
                      <a:pPr marL="0" marR="0">
                        <a:spcBef>
                          <a:spcPts val="0"/>
                        </a:spcBef>
                        <a:spcAft>
                          <a:spcPts val="0"/>
                        </a:spcAft>
                      </a:pPr>
                      <a:r>
                        <a:rPr lang="en-US" sz="1000">
                          <a:effectLst/>
                        </a:rPr>
                        <a:t>2020</a:t>
                      </a:r>
                      <a:endParaRPr lang="en-US" sz="1000">
                        <a:effectLst/>
                        <a:latin typeface="Calibri" panose="020F0502020204030204" pitchFamily="34" charset="0"/>
                        <a:ea typeface="Calibri" panose="020F0502020204030204" pitchFamily="34"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defTabSz="914400" rtl="0" eaLnBrk="1" latinLnBrk="0" hangingPunct="1">
                        <a:spcBef>
                          <a:spcPts val="0"/>
                        </a:spcBef>
                        <a:spcAft>
                          <a:spcPts val="0"/>
                        </a:spcAft>
                      </a:pPr>
                      <a:r>
                        <a:rPr lang="en-US" sz="1000" kern="1200" dirty="0">
                          <a:solidFill>
                            <a:schemeClr val="tx1"/>
                          </a:solidFill>
                          <a:effectLst/>
                          <a:latin typeface="+mn-lt"/>
                          <a:ea typeface="+mn-ea"/>
                          <a:cs typeface="+mn-cs"/>
                        </a:rPr>
                        <a:t>22</a:t>
                      </a: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8752801"/>
                  </a:ext>
                </a:extLst>
              </a:tr>
              <a:tr h="172509">
                <a:tc>
                  <a:txBody>
                    <a:bodyPr/>
                    <a:lstStyle/>
                    <a:p>
                      <a:pPr marL="0" marR="0">
                        <a:spcBef>
                          <a:spcPts val="0"/>
                        </a:spcBef>
                        <a:spcAft>
                          <a:spcPts val="0"/>
                        </a:spcAft>
                      </a:pPr>
                      <a:r>
                        <a:rPr lang="en-US" sz="1000" dirty="0">
                          <a:effectLst/>
                        </a:rPr>
                        <a:t>2021</a:t>
                      </a:r>
                      <a:endParaRPr lang="en-US" sz="1000" dirty="0">
                        <a:effectLst/>
                        <a:latin typeface="Calibri" panose="020F0502020204030204" pitchFamily="34" charset="0"/>
                        <a:ea typeface="Calibri" panose="020F0502020204030204" pitchFamily="34"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defTabSz="914400" rtl="0" eaLnBrk="1" latinLnBrk="0" hangingPunct="1">
                        <a:spcBef>
                          <a:spcPts val="0"/>
                        </a:spcBef>
                        <a:spcAft>
                          <a:spcPts val="0"/>
                        </a:spcAft>
                      </a:pPr>
                      <a:r>
                        <a:rPr lang="en-US" sz="1000" kern="1200" dirty="0">
                          <a:solidFill>
                            <a:schemeClr val="tx1"/>
                          </a:solidFill>
                          <a:effectLst/>
                          <a:latin typeface="+mn-lt"/>
                          <a:ea typeface="+mn-ea"/>
                          <a:cs typeface="+mn-cs"/>
                        </a:rPr>
                        <a:t>1</a:t>
                      </a: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0400274"/>
                  </a:ext>
                </a:extLst>
              </a:tr>
              <a:tr h="172509">
                <a:tc>
                  <a:txBody>
                    <a:bodyPr/>
                    <a:lstStyle/>
                    <a:p>
                      <a:pPr marL="0" marR="0">
                        <a:spcBef>
                          <a:spcPts val="0"/>
                        </a:spcBef>
                        <a:spcAft>
                          <a:spcPts val="0"/>
                        </a:spcAft>
                      </a:pPr>
                      <a:r>
                        <a:rPr lang="en-US" sz="1000">
                          <a:effectLst/>
                        </a:rPr>
                        <a:t>2023</a:t>
                      </a:r>
                      <a:endParaRPr lang="en-US" sz="1000">
                        <a:effectLst/>
                        <a:latin typeface="Calibri" panose="020F0502020204030204" pitchFamily="34" charset="0"/>
                        <a:ea typeface="Calibri" panose="020F0502020204030204" pitchFamily="34"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000" dirty="0">
                          <a:effectLst/>
                        </a:rPr>
                        <a:t>1</a:t>
                      </a:r>
                      <a:endParaRPr lang="en-US" sz="1000" dirty="0">
                        <a:effectLst/>
                        <a:latin typeface="Calibri" panose="020F0502020204030204" pitchFamily="34" charset="0"/>
                        <a:ea typeface="Calibri" panose="020F0502020204030204" pitchFamily="34"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0204048"/>
                  </a:ext>
                </a:extLst>
              </a:tr>
              <a:tr h="172509">
                <a:tc>
                  <a:txBody>
                    <a:bodyPr/>
                    <a:lstStyle/>
                    <a:p>
                      <a:pPr marL="0" marR="0">
                        <a:spcBef>
                          <a:spcPts val="0"/>
                        </a:spcBef>
                        <a:spcAft>
                          <a:spcPts val="0"/>
                        </a:spcAft>
                      </a:pPr>
                      <a:r>
                        <a:rPr lang="en-US" sz="1000" dirty="0">
                          <a:effectLst/>
                        </a:rPr>
                        <a:t>Grand Total</a:t>
                      </a:r>
                      <a:endParaRPr lang="en-US" sz="1000" dirty="0">
                        <a:effectLst/>
                        <a:latin typeface="Calibri" panose="020F0502020204030204" pitchFamily="34" charset="0"/>
                        <a:ea typeface="Calibri" panose="020F0502020204030204" pitchFamily="34"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000" dirty="0">
                          <a:effectLst/>
                        </a:rPr>
                        <a:t>980</a:t>
                      </a:r>
                      <a:endParaRPr lang="en-US" sz="1000" dirty="0">
                        <a:effectLst/>
                        <a:latin typeface="Calibri" panose="020F0502020204030204" pitchFamily="34" charset="0"/>
                        <a:ea typeface="Calibri" panose="020F0502020204030204" pitchFamily="34"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3029967"/>
                  </a:ext>
                </a:extLst>
              </a:tr>
            </a:tbl>
          </a:graphicData>
        </a:graphic>
      </p:graphicFrame>
      <p:graphicFrame>
        <p:nvGraphicFramePr>
          <p:cNvPr id="12" name="Table 11">
            <a:extLst>
              <a:ext uri="{FF2B5EF4-FFF2-40B4-BE49-F238E27FC236}">
                <a16:creationId xmlns:a16="http://schemas.microsoft.com/office/drawing/2014/main" id="{73451A6D-394F-43F8-BF24-619B1DFADD87}"/>
              </a:ext>
            </a:extLst>
          </p:cNvPr>
          <p:cNvGraphicFramePr>
            <a:graphicFrameLocks noGrp="1"/>
          </p:cNvGraphicFramePr>
          <p:nvPr>
            <p:extLst>
              <p:ext uri="{D42A27DB-BD31-4B8C-83A1-F6EECF244321}">
                <p14:modId xmlns:p14="http://schemas.microsoft.com/office/powerpoint/2010/main" val="1052766556"/>
              </p:ext>
            </p:extLst>
          </p:nvPr>
        </p:nvGraphicFramePr>
        <p:xfrm>
          <a:off x="457200" y="1080068"/>
          <a:ext cx="1981200" cy="285749"/>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968018634"/>
                    </a:ext>
                  </a:extLst>
                </a:gridCol>
              </a:tblGrid>
              <a:tr h="285749">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CA" sz="1050" b="1" noProof="0" dirty="0">
                          <a:solidFill>
                            <a:srgbClr val="C00000"/>
                          </a:solidFill>
                        </a:rPr>
                        <a:t>Projected </a:t>
                      </a:r>
                      <a:r>
                        <a:rPr lang="en-CA" sz="1050" b="1" noProof="0" dirty="0" err="1">
                          <a:solidFill>
                            <a:srgbClr val="C00000"/>
                          </a:solidFill>
                        </a:rPr>
                        <a:t>AeroMortgage</a:t>
                      </a:r>
                      <a:r>
                        <a:rPr lang="en-CA" sz="1050" b="1" noProof="0" dirty="0">
                          <a:solidFill>
                            <a:srgbClr val="C00000"/>
                          </a:solidFill>
                        </a:rPr>
                        <a:t> Clients</a:t>
                      </a:r>
                      <a:endParaRPr lang="en-CA" sz="105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8277223"/>
                  </a:ext>
                </a:extLst>
              </a:tr>
            </a:tbl>
          </a:graphicData>
        </a:graphic>
      </p:graphicFrame>
    </p:spTree>
    <p:extLst>
      <p:ext uri="{BB962C8B-B14F-4D97-AF65-F5344CB8AC3E}">
        <p14:creationId xmlns:p14="http://schemas.microsoft.com/office/powerpoint/2010/main" val="2146331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56B78-A1B1-4CAF-BA69-B8A8BF86D7F3}"/>
              </a:ext>
            </a:extLst>
          </p:cNvPr>
          <p:cNvSpPr>
            <a:spLocks noGrp="1"/>
          </p:cNvSpPr>
          <p:nvPr>
            <p:ph type="title"/>
          </p:nvPr>
        </p:nvSpPr>
        <p:spPr>
          <a:xfrm>
            <a:off x="381000" y="76200"/>
            <a:ext cx="8174182" cy="806824"/>
          </a:xfrm>
        </p:spPr>
        <p:txBody>
          <a:bodyPr/>
          <a:lstStyle/>
          <a:p>
            <a:r>
              <a:rPr lang="en-CA" dirty="0">
                <a:solidFill>
                  <a:srgbClr val="C00000"/>
                </a:solidFill>
              </a:rPr>
              <a:t>Appendix 1</a:t>
            </a:r>
            <a:endParaRPr lang="en-US" dirty="0">
              <a:solidFill>
                <a:srgbClr val="C00000"/>
              </a:solidFill>
            </a:endParaRPr>
          </a:p>
        </p:txBody>
      </p:sp>
      <p:sp>
        <p:nvSpPr>
          <p:cNvPr id="4" name="Slide Number Placeholder 3">
            <a:extLst>
              <a:ext uri="{FF2B5EF4-FFF2-40B4-BE49-F238E27FC236}">
                <a16:creationId xmlns:a16="http://schemas.microsoft.com/office/drawing/2014/main" id="{0C118392-DC8E-40A2-9C30-10D81C830137}"/>
              </a:ext>
            </a:extLst>
          </p:cNvPr>
          <p:cNvSpPr>
            <a:spLocks noGrp="1"/>
          </p:cNvSpPr>
          <p:nvPr>
            <p:ph type="sldNum" sz="quarter" idx="4"/>
          </p:nvPr>
        </p:nvSpPr>
        <p:spPr>
          <a:xfrm>
            <a:off x="7211292" y="6571129"/>
            <a:ext cx="1524000" cy="134471"/>
          </a:xfrm>
        </p:spPr>
        <p:txBody>
          <a:bodyPr/>
          <a:lstStyle/>
          <a:p>
            <a:fld id="{FEBD7F86-1881-4698-8703-FB80B0800997}" type="slidenum">
              <a:rPr lang="en-GB" smtClean="0"/>
              <a:pPr/>
              <a:t>3</a:t>
            </a:fld>
            <a:endParaRPr lang="en-GB" dirty="0"/>
          </a:p>
        </p:txBody>
      </p:sp>
      <p:sp>
        <p:nvSpPr>
          <p:cNvPr id="6" name="Rectangle 1">
            <a:extLst>
              <a:ext uri="{FF2B5EF4-FFF2-40B4-BE49-F238E27FC236}">
                <a16:creationId xmlns:a16="http://schemas.microsoft.com/office/drawing/2014/main" id="{1B6D6220-B249-48E7-8BA9-657A5E7749E3}"/>
              </a:ext>
            </a:extLst>
          </p:cNvPr>
          <p:cNvSpPr>
            <a:spLocks noChangeArrowheads="1"/>
          </p:cNvSpPr>
          <p:nvPr/>
        </p:nvSpPr>
        <p:spPr bwMode="auto">
          <a:xfrm>
            <a:off x="3568700" y="28606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a:extLst>
              <a:ext uri="{FF2B5EF4-FFF2-40B4-BE49-F238E27FC236}">
                <a16:creationId xmlns:a16="http://schemas.microsoft.com/office/drawing/2014/main" id="{A35524AF-E9BD-44AC-A4AD-C01DA1A9B12C}"/>
              </a:ext>
            </a:extLst>
          </p:cNvPr>
          <p:cNvSpPr>
            <a:spLocks noChangeArrowheads="1"/>
          </p:cNvSpPr>
          <p:nvPr/>
        </p:nvSpPr>
        <p:spPr bwMode="auto">
          <a:xfrm>
            <a:off x="357167" y="352928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Table 8">
            <a:extLst>
              <a:ext uri="{FF2B5EF4-FFF2-40B4-BE49-F238E27FC236}">
                <a16:creationId xmlns:a16="http://schemas.microsoft.com/office/drawing/2014/main" id="{DC330D3E-8D56-470B-894A-62BEEFA85CD2}"/>
              </a:ext>
            </a:extLst>
          </p:cNvPr>
          <p:cNvGraphicFramePr>
            <a:graphicFrameLocks noGrp="1"/>
          </p:cNvGraphicFramePr>
          <p:nvPr>
            <p:extLst>
              <p:ext uri="{D42A27DB-BD31-4B8C-83A1-F6EECF244321}">
                <p14:modId xmlns:p14="http://schemas.microsoft.com/office/powerpoint/2010/main" val="2952599614"/>
              </p:ext>
            </p:extLst>
          </p:nvPr>
        </p:nvGraphicFramePr>
        <p:xfrm>
          <a:off x="457200" y="1046857"/>
          <a:ext cx="1219200" cy="285749"/>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968018634"/>
                    </a:ext>
                  </a:extLst>
                </a:gridCol>
              </a:tblGrid>
              <a:tr h="285749">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CA" sz="1050" b="1" noProof="0" dirty="0">
                          <a:solidFill>
                            <a:srgbClr val="C00000"/>
                          </a:solidFill>
                        </a:rPr>
                        <a:t>Effort Breakdown</a:t>
                      </a:r>
                      <a:endParaRPr lang="en-CA" sz="105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8277223"/>
                  </a:ext>
                </a:extLst>
              </a:tr>
            </a:tbl>
          </a:graphicData>
        </a:graphic>
      </p:graphicFrame>
      <p:graphicFrame>
        <p:nvGraphicFramePr>
          <p:cNvPr id="11" name="Table 10">
            <a:extLst>
              <a:ext uri="{FF2B5EF4-FFF2-40B4-BE49-F238E27FC236}">
                <a16:creationId xmlns:a16="http://schemas.microsoft.com/office/drawing/2014/main" id="{8C9C17CF-8A31-4647-B31F-508F3AA6C972}"/>
              </a:ext>
            </a:extLst>
          </p:cNvPr>
          <p:cNvGraphicFramePr>
            <a:graphicFrameLocks noGrp="1"/>
          </p:cNvGraphicFramePr>
          <p:nvPr>
            <p:extLst>
              <p:ext uri="{D42A27DB-BD31-4B8C-83A1-F6EECF244321}">
                <p14:modId xmlns:p14="http://schemas.microsoft.com/office/powerpoint/2010/main" val="1463262473"/>
              </p:ext>
            </p:extLst>
          </p:nvPr>
        </p:nvGraphicFramePr>
        <p:xfrm>
          <a:off x="458598" y="1440180"/>
          <a:ext cx="7771001" cy="3055620"/>
        </p:xfrm>
        <a:graphic>
          <a:graphicData uri="http://schemas.openxmlformats.org/drawingml/2006/table">
            <a:tbl>
              <a:tblPr firstRow="1" bandRow="1">
                <a:tableStyleId>{5940675A-B579-460E-94D1-54222C63F5DA}</a:tableStyleId>
              </a:tblPr>
              <a:tblGrid>
                <a:gridCol w="1233313">
                  <a:extLst>
                    <a:ext uri="{9D8B030D-6E8A-4147-A177-3AD203B41FA5}">
                      <a16:colId xmlns:a16="http://schemas.microsoft.com/office/drawing/2014/main" val="3641595216"/>
                    </a:ext>
                  </a:extLst>
                </a:gridCol>
                <a:gridCol w="3488353">
                  <a:extLst>
                    <a:ext uri="{9D8B030D-6E8A-4147-A177-3AD203B41FA5}">
                      <a16:colId xmlns:a16="http://schemas.microsoft.com/office/drawing/2014/main" val="1793113870"/>
                    </a:ext>
                  </a:extLst>
                </a:gridCol>
                <a:gridCol w="3049335">
                  <a:extLst>
                    <a:ext uri="{9D8B030D-6E8A-4147-A177-3AD203B41FA5}">
                      <a16:colId xmlns:a16="http://schemas.microsoft.com/office/drawing/2014/main" val="2215881442"/>
                    </a:ext>
                  </a:extLst>
                </a:gridCol>
              </a:tblGrid>
              <a:tr h="159375">
                <a:tc>
                  <a:txBody>
                    <a:bodyPr/>
                    <a:lstStyle/>
                    <a:p>
                      <a:pPr marL="0" marR="0" algn="ctr">
                        <a:spcBef>
                          <a:spcPts val="0"/>
                        </a:spcBef>
                        <a:spcAft>
                          <a:spcPts val="0"/>
                        </a:spcAft>
                      </a:pPr>
                      <a:r>
                        <a:rPr lang="en-US" sz="1050" b="1" dirty="0">
                          <a:solidFill>
                            <a:schemeClr val="bg1"/>
                          </a:solidFill>
                          <a:effectLst/>
                        </a:rPr>
                        <a:t>System/Team</a:t>
                      </a:r>
                      <a:endParaRPr lang="en-US" sz="1050" b="1" dirty="0">
                        <a:solidFill>
                          <a:schemeClr val="bg1"/>
                        </a:solidFill>
                        <a:effectLst/>
                        <a:latin typeface="Calibri" panose="020F0502020204030204" pitchFamily="34" charset="0"/>
                        <a:ea typeface="Calibri" panose="020F0502020204030204" pitchFamily="34" charset="0"/>
                      </a:endParaRPr>
                    </a:p>
                  </a:txBody>
                  <a:tcPr marL="20373" marR="20373" marT="0" marB="0" anchor="b">
                    <a:solidFill>
                      <a:schemeClr val="bg1">
                        <a:lumMod val="65000"/>
                      </a:schemeClr>
                    </a:solidFill>
                  </a:tcPr>
                </a:tc>
                <a:tc gridSpan="2">
                  <a:txBody>
                    <a:bodyPr/>
                    <a:lstStyle/>
                    <a:p>
                      <a:pPr marL="0" marR="0" algn="ctr">
                        <a:spcBef>
                          <a:spcPts val="0"/>
                        </a:spcBef>
                        <a:spcAft>
                          <a:spcPts val="0"/>
                        </a:spcAft>
                      </a:pPr>
                      <a:r>
                        <a:rPr lang="en-US" sz="1050" b="1" dirty="0">
                          <a:solidFill>
                            <a:schemeClr val="bg1"/>
                          </a:solidFill>
                          <a:effectLst/>
                        </a:rPr>
                        <a:t>Effort/Changes</a:t>
                      </a:r>
                      <a:endParaRPr lang="en-US" sz="1050" b="1" dirty="0">
                        <a:solidFill>
                          <a:schemeClr val="bg1"/>
                        </a:solidFill>
                        <a:effectLst/>
                        <a:latin typeface="Calibri" panose="020F0502020204030204" pitchFamily="34" charset="0"/>
                        <a:ea typeface="Calibri" panose="020F0502020204030204" pitchFamily="34" charset="0"/>
                      </a:endParaRPr>
                    </a:p>
                  </a:txBody>
                  <a:tcPr marL="20373" marR="20373" marT="0" marB="0" anchor="b">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en-US"/>
                    </a:p>
                  </a:txBody>
                  <a:tcPr/>
                </a:tc>
                <a:extLst>
                  <a:ext uri="{0D108BD9-81ED-4DB2-BD59-A6C34878D82A}">
                    <a16:rowId xmlns:a16="http://schemas.microsoft.com/office/drawing/2014/main" val="1250760480"/>
                  </a:ext>
                </a:extLst>
              </a:tr>
              <a:tr h="302769">
                <a:tc>
                  <a:txBody>
                    <a:bodyPr/>
                    <a:lstStyle/>
                    <a:p>
                      <a:pPr marL="0" marR="0">
                        <a:spcBef>
                          <a:spcPts val="0"/>
                        </a:spcBef>
                        <a:spcAft>
                          <a:spcPts val="0"/>
                        </a:spcAft>
                      </a:pPr>
                      <a:r>
                        <a:rPr lang="en-CA" sz="1000" dirty="0">
                          <a:effectLst/>
                          <a:latin typeface="+mn-lt"/>
                          <a:ea typeface="Calibri" panose="020F0502020204030204" pitchFamily="34" charset="0"/>
                        </a:rPr>
                        <a:t>BA/BSA</a:t>
                      </a:r>
                      <a:endParaRPr lang="en-US" sz="1000" dirty="0">
                        <a:effectLst/>
                        <a:latin typeface="+mn-lt"/>
                        <a:ea typeface="Calibri" panose="020F0502020204030204" pitchFamily="34" charset="0"/>
                      </a:endParaRPr>
                    </a:p>
                  </a:txBody>
                  <a:tcPr marL="20373" marR="20373" marT="0" marB="0">
                    <a:lnR w="12700" cap="flat" cmpd="sng" algn="ctr">
                      <a:solidFill>
                        <a:schemeClr val="tx1"/>
                      </a:solidFill>
                      <a:prstDash val="solid"/>
                      <a:round/>
                      <a:headEnd type="none" w="med" len="med"/>
                      <a:tailEnd type="none" w="med" len="med"/>
                    </a:lnR>
                  </a:tcPr>
                </a:tc>
                <a:tc>
                  <a:txBody>
                    <a:bodyPr/>
                    <a:lstStyle/>
                    <a:p>
                      <a:pPr marL="228600" marR="0" lvl="0" indent="-228600">
                        <a:spcBef>
                          <a:spcPts val="0"/>
                        </a:spcBef>
                        <a:spcAft>
                          <a:spcPts val="0"/>
                        </a:spcAft>
                        <a:buFont typeface="+mj-lt"/>
                        <a:buAutoNum type="arabicPeriod"/>
                      </a:pPr>
                      <a:r>
                        <a:rPr lang="en-CA" sz="1000" dirty="0">
                          <a:effectLst/>
                        </a:rPr>
                        <a:t>BRD effort</a:t>
                      </a:r>
                    </a:p>
                    <a:p>
                      <a:pPr marL="228600" marR="0" lvl="0" indent="-228600">
                        <a:spcBef>
                          <a:spcPts val="0"/>
                        </a:spcBef>
                        <a:spcAft>
                          <a:spcPts val="0"/>
                        </a:spcAft>
                        <a:buFont typeface="+mj-lt"/>
                        <a:buAutoNum type="arabicPeriod"/>
                      </a:pPr>
                      <a:r>
                        <a:rPr lang="en-CA" sz="1000" dirty="0">
                          <a:effectLst/>
                        </a:rPr>
                        <a:t>Archiving BSA documentation</a:t>
                      </a:r>
                    </a:p>
                  </a:txBody>
                  <a:tcPr marL="20373" marR="20373" marT="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800" dirty="0"/>
                    </a:p>
                  </a:txBody>
                  <a:tcPr marL="20373" marR="20373" marT="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599818"/>
                  </a:ext>
                </a:extLst>
              </a:tr>
              <a:tr h="302769">
                <a:tc>
                  <a:txBody>
                    <a:bodyPr/>
                    <a:lstStyle/>
                    <a:p>
                      <a:pPr marL="0" marR="0">
                        <a:spcBef>
                          <a:spcPts val="0"/>
                        </a:spcBef>
                        <a:spcAft>
                          <a:spcPts val="0"/>
                        </a:spcAft>
                      </a:pPr>
                      <a:r>
                        <a:rPr lang="en-US" sz="1000" dirty="0">
                          <a:effectLst/>
                        </a:rPr>
                        <a:t>Eureka</a:t>
                      </a:r>
                      <a:endParaRPr lang="en-US" sz="1000" dirty="0">
                        <a:effectLst/>
                        <a:latin typeface="+mn-lt"/>
                        <a:ea typeface="Calibri" panose="020F0502020204030204" pitchFamily="34" charset="0"/>
                      </a:endParaRPr>
                    </a:p>
                  </a:txBody>
                  <a:tcPr marL="20373" marR="20373" marT="0" marB="0">
                    <a:lnR w="12700" cap="flat" cmpd="sng" algn="ctr">
                      <a:solidFill>
                        <a:schemeClr val="tx1"/>
                      </a:solidFill>
                      <a:prstDash val="solid"/>
                      <a:round/>
                      <a:headEnd type="none" w="med" len="med"/>
                      <a:tailEnd type="none" w="med" len="med"/>
                    </a:lnR>
                  </a:tcPr>
                </a:tc>
                <a:tc>
                  <a:txBody>
                    <a:bodyPr/>
                    <a:lstStyle/>
                    <a:p>
                      <a:pPr marL="228600" marR="0" lvl="0" indent="-228600">
                        <a:spcBef>
                          <a:spcPts val="0"/>
                        </a:spcBef>
                        <a:spcAft>
                          <a:spcPts val="0"/>
                        </a:spcAft>
                        <a:buFont typeface="+mj-lt"/>
                        <a:buAutoNum type="arabicPeriod"/>
                      </a:pPr>
                      <a:r>
                        <a:rPr lang="en-CA" sz="1000" dirty="0">
                          <a:effectLst/>
                        </a:rPr>
                        <a:t>Support</a:t>
                      </a:r>
                    </a:p>
                    <a:p>
                      <a:pPr marL="228600" marR="0" lvl="0" indent="-228600">
                        <a:spcBef>
                          <a:spcPts val="0"/>
                        </a:spcBef>
                        <a:spcAft>
                          <a:spcPts val="0"/>
                        </a:spcAft>
                        <a:buFont typeface="+mj-lt"/>
                        <a:buAutoNum type="arabicPeriod"/>
                      </a:pPr>
                      <a:r>
                        <a:rPr lang="en-CA" sz="1000" dirty="0">
                          <a:effectLst/>
                        </a:rPr>
                        <a:t>Decommission </a:t>
                      </a:r>
                      <a:r>
                        <a:rPr lang="en-CA" sz="1000" dirty="0" err="1">
                          <a:effectLst/>
                        </a:rPr>
                        <a:t>StreetPerfect</a:t>
                      </a:r>
                      <a:r>
                        <a:rPr lang="en-CA" sz="1000" dirty="0">
                          <a:effectLst/>
                        </a:rPr>
                        <a:t> annual license</a:t>
                      </a:r>
                    </a:p>
                  </a:txBody>
                  <a:tcPr marL="20373" marR="20373" marT="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800" dirty="0"/>
                    </a:p>
                  </a:txBody>
                  <a:tcPr marL="20373" marR="20373" marT="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3858688"/>
                  </a:ext>
                </a:extLst>
              </a:tr>
              <a:tr h="454153">
                <a:tc>
                  <a:txBody>
                    <a:bodyPr/>
                    <a:lstStyle/>
                    <a:p>
                      <a:pPr marL="0" marR="0">
                        <a:spcBef>
                          <a:spcPts val="0"/>
                        </a:spcBef>
                        <a:spcAft>
                          <a:spcPts val="0"/>
                        </a:spcAft>
                      </a:pPr>
                      <a:r>
                        <a:rPr lang="en-US" sz="1000" dirty="0">
                          <a:effectLst/>
                        </a:rPr>
                        <a:t>Excalibur</a:t>
                      </a:r>
                      <a:endParaRPr lang="en-US" sz="1000" dirty="0">
                        <a:effectLst/>
                        <a:latin typeface="+mn-lt"/>
                        <a:ea typeface="Calibri" panose="020F0502020204030204" pitchFamily="34" charset="0"/>
                      </a:endParaRPr>
                    </a:p>
                  </a:txBody>
                  <a:tcPr marL="20373" marR="20373" marT="0" marB="0">
                    <a:lnR w="12700" cap="flat" cmpd="sng" algn="ctr">
                      <a:solidFill>
                        <a:schemeClr val="tx1"/>
                      </a:solidFill>
                      <a:prstDash val="solid"/>
                      <a:round/>
                      <a:headEnd type="none" w="med" len="med"/>
                      <a:tailEnd type="none" w="med" len="med"/>
                    </a:lnR>
                  </a:tcPr>
                </a:tc>
                <a:tc>
                  <a:txBody>
                    <a:bodyPr/>
                    <a:lstStyle/>
                    <a:p>
                      <a:pPr marL="228600" marR="0" lvl="0" indent="-228600">
                        <a:spcBef>
                          <a:spcPts val="0"/>
                        </a:spcBef>
                        <a:spcAft>
                          <a:spcPts val="0"/>
                        </a:spcAft>
                        <a:buFont typeface="+mj-lt"/>
                        <a:buAutoNum type="arabicPeriod"/>
                      </a:pPr>
                      <a:r>
                        <a:rPr lang="en-US" sz="1000" dirty="0">
                          <a:effectLst/>
                        </a:rPr>
                        <a:t>Decommission feed to Eureka</a:t>
                      </a:r>
                    </a:p>
                    <a:p>
                      <a:pPr marL="228600" marR="0" lvl="0" indent="-228600">
                        <a:spcBef>
                          <a:spcPts val="0"/>
                        </a:spcBef>
                        <a:spcAft>
                          <a:spcPts val="0"/>
                        </a:spcAft>
                        <a:buFont typeface="+mj-lt"/>
                        <a:buAutoNum type="arabicPeriod"/>
                      </a:pPr>
                      <a:r>
                        <a:rPr lang="en-CA" sz="1000" dirty="0">
                          <a:effectLst/>
                        </a:rPr>
                        <a:t>Provide data for mail merge</a:t>
                      </a:r>
                      <a:endParaRPr lang="en-US" sz="1000" dirty="0">
                        <a:effectLst/>
                      </a:endParaRPr>
                    </a:p>
                    <a:p>
                      <a:pPr marL="228600" marR="0" lvl="0" indent="-228600">
                        <a:spcBef>
                          <a:spcPts val="0"/>
                        </a:spcBef>
                        <a:spcAft>
                          <a:spcPts val="0"/>
                        </a:spcAft>
                        <a:buFont typeface="+mj-lt"/>
                        <a:buAutoNum type="arabicPeriod"/>
                      </a:pPr>
                      <a:r>
                        <a:rPr lang="en-US" sz="1000">
                          <a:effectLst/>
                        </a:rPr>
                        <a:t>Support</a:t>
                      </a:r>
                      <a:endParaRPr lang="en-US" sz="1000" dirty="0">
                        <a:effectLst/>
                      </a:endParaRPr>
                    </a:p>
                  </a:txBody>
                  <a:tcPr marL="20373" marR="20373" marT="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dirty="0">
                        <a:effectLst/>
                      </a:endParaRPr>
                    </a:p>
                  </a:txBody>
                  <a:tcPr marL="20373" marR="20373" marT="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53532391"/>
                  </a:ext>
                </a:extLst>
              </a:tr>
              <a:tr h="454153">
                <a:tc>
                  <a:txBody>
                    <a:bodyPr/>
                    <a:lstStyle/>
                    <a:p>
                      <a:pPr marL="0" marR="0">
                        <a:spcBef>
                          <a:spcPts val="0"/>
                        </a:spcBef>
                        <a:spcAft>
                          <a:spcPts val="0"/>
                        </a:spcAft>
                      </a:pPr>
                      <a:r>
                        <a:rPr lang="en-CA" sz="1000" dirty="0">
                          <a:effectLst/>
                          <a:latin typeface="+mn-lt"/>
                          <a:ea typeface="Calibri" panose="020F0502020204030204" pitchFamily="34" charset="0"/>
                        </a:rPr>
                        <a:t>QC</a:t>
                      </a:r>
                      <a:endParaRPr lang="en-US" sz="1000" dirty="0">
                        <a:effectLst/>
                        <a:latin typeface="+mn-lt"/>
                        <a:ea typeface="Calibri" panose="020F0502020204030204" pitchFamily="34" charset="0"/>
                      </a:endParaRPr>
                    </a:p>
                  </a:txBody>
                  <a:tcPr marL="20373" marR="20373" marT="0" marB="0">
                    <a:lnR w="12700" cap="flat" cmpd="sng" algn="ctr">
                      <a:solidFill>
                        <a:schemeClr val="tx1"/>
                      </a:solidFill>
                      <a:prstDash val="solid"/>
                      <a:round/>
                      <a:headEnd type="none" w="med" len="med"/>
                      <a:tailEnd type="none" w="med" len="med"/>
                    </a:lnR>
                  </a:tcPr>
                </a:tc>
                <a:tc>
                  <a:txBody>
                    <a:bodyPr/>
                    <a:lstStyle/>
                    <a:p>
                      <a:pPr marL="228600" marR="0" lvl="0" indent="-228600">
                        <a:spcBef>
                          <a:spcPts val="0"/>
                        </a:spcBef>
                        <a:spcAft>
                          <a:spcPts val="0"/>
                        </a:spcAft>
                        <a:buFont typeface="+mj-lt"/>
                        <a:buAutoNum type="arabicPeriod"/>
                      </a:pPr>
                      <a:r>
                        <a:rPr lang="en-CA" sz="1000" dirty="0">
                          <a:effectLst/>
                        </a:rPr>
                        <a:t>Validate Excalibur output for points payout and account/client details</a:t>
                      </a:r>
                    </a:p>
                    <a:p>
                      <a:pPr marL="228600" marR="0" lvl="0" indent="-228600">
                        <a:spcBef>
                          <a:spcPts val="0"/>
                        </a:spcBef>
                        <a:spcAft>
                          <a:spcPts val="0"/>
                        </a:spcAft>
                        <a:buFont typeface="+mj-lt"/>
                        <a:buAutoNum type="arabicPeriod"/>
                      </a:pPr>
                      <a:r>
                        <a:rPr lang="en-CA" sz="1000" dirty="0">
                          <a:effectLst/>
                        </a:rPr>
                        <a:t>Excalibur light regression</a:t>
                      </a:r>
                    </a:p>
                  </a:txBody>
                  <a:tcPr marL="20373" marR="20373" marT="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dirty="0">
                        <a:effectLst/>
                      </a:endParaRPr>
                    </a:p>
                  </a:txBody>
                  <a:tcPr marL="20373" marR="20373" marT="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18673797"/>
                  </a:ext>
                </a:extLst>
              </a:tr>
              <a:tr h="908306">
                <a:tc>
                  <a:txBody>
                    <a:bodyPr/>
                    <a:lstStyle/>
                    <a:p>
                      <a:pPr marL="0" marR="0">
                        <a:spcBef>
                          <a:spcPts val="0"/>
                        </a:spcBef>
                        <a:spcAft>
                          <a:spcPts val="0"/>
                        </a:spcAft>
                      </a:pPr>
                      <a:r>
                        <a:rPr lang="en-US" sz="1000" dirty="0">
                          <a:effectLst/>
                        </a:rPr>
                        <a:t>TO</a:t>
                      </a:r>
                      <a:endParaRPr lang="en-US" sz="1000" dirty="0">
                        <a:effectLst/>
                        <a:latin typeface="+mn-lt"/>
                        <a:ea typeface="Calibri" panose="020F0502020204030204" pitchFamily="34" charset="0"/>
                      </a:endParaRPr>
                    </a:p>
                  </a:txBody>
                  <a:tcPr marL="20373" marR="20373" marT="0" marB="0">
                    <a:lnR w="12700" cap="flat" cmpd="sng" algn="ctr">
                      <a:solidFill>
                        <a:schemeClr val="tx1"/>
                      </a:solidFill>
                      <a:prstDash val="solid"/>
                      <a:round/>
                      <a:headEnd type="none" w="med" len="med"/>
                      <a:tailEnd type="none" w="med" len="med"/>
                    </a:lnR>
                  </a:tcPr>
                </a:tc>
                <a:tc>
                  <a:txBody>
                    <a:bodyPr/>
                    <a:lstStyle/>
                    <a:p>
                      <a:pPr marL="0" marR="0" indent="0">
                        <a:spcBef>
                          <a:spcPts val="0"/>
                        </a:spcBef>
                        <a:spcAft>
                          <a:spcPts val="0"/>
                        </a:spcAft>
                        <a:buNone/>
                      </a:pPr>
                      <a:r>
                        <a:rPr lang="en-CA" sz="1000" kern="1200" dirty="0">
                          <a:solidFill>
                            <a:schemeClr val="tx1"/>
                          </a:solidFill>
                          <a:effectLst/>
                          <a:latin typeface="+mn-lt"/>
                          <a:ea typeface="+mn-ea"/>
                          <a:cs typeface="+mn-cs"/>
                        </a:rPr>
                        <a:t>De</a:t>
                      </a:r>
                      <a:r>
                        <a:rPr lang="en-US" sz="1000" kern="1200" dirty="0">
                          <a:solidFill>
                            <a:schemeClr val="tx1"/>
                          </a:solidFill>
                          <a:effectLst/>
                          <a:latin typeface="+mn-lt"/>
                          <a:ea typeface="+mn-ea"/>
                          <a:cs typeface="+mn-cs"/>
                        </a:rPr>
                        <a:t>commission the following components:</a:t>
                      </a:r>
                    </a:p>
                    <a:p>
                      <a:pPr marL="228600" marR="0" indent="-228600">
                        <a:spcBef>
                          <a:spcPts val="0"/>
                        </a:spcBef>
                        <a:spcAft>
                          <a:spcPts val="0"/>
                        </a:spcAft>
                        <a:buAutoNum type="arabicPeriod"/>
                      </a:pPr>
                      <a:r>
                        <a:rPr lang="en-US" sz="1000" kern="1200" dirty="0">
                          <a:solidFill>
                            <a:schemeClr val="tx1"/>
                          </a:solidFill>
                          <a:effectLst/>
                          <a:latin typeface="+mn-lt"/>
                          <a:ea typeface="+mn-ea"/>
                          <a:cs typeface="+mn-cs"/>
                        </a:rPr>
                        <a:t>DNS entries</a:t>
                      </a:r>
                    </a:p>
                    <a:p>
                      <a:pPr marL="228600" marR="0" indent="-228600">
                        <a:spcBef>
                          <a:spcPts val="0"/>
                        </a:spcBef>
                        <a:spcAft>
                          <a:spcPts val="0"/>
                        </a:spcAft>
                        <a:buAutoNum type="arabicPeriod"/>
                      </a:pPr>
                      <a:r>
                        <a:rPr lang="en-US" sz="1000" kern="1200" dirty="0">
                          <a:solidFill>
                            <a:schemeClr val="tx1"/>
                          </a:solidFill>
                          <a:effectLst/>
                          <a:latin typeface="+mn-lt"/>
                          <a:ea typeface="+mn-ea"/>
                          <a:cs typeface="+mn-cs"/>
                        </a:rPr>
                        <a:t>Web server instances - </a:t>
                      </a:r>
                      <a:r>
                        <a:rPr lang="en-US" sz="1000" kern="1200" dirty="0" err="1">
                          <a:solidFill>
                            <a:schemeClr val="tx1"/>
                          </a:solidFill>
                          <a:effectLst/>
                          <a:latin typeface="+mn-lt"/>
                          <a:ea typeface="+mn-ea"/>
                          <a:cs typeface="+mn-cs"/>
                        </a:rPr>
                        <a:t>sunone</a:t>
                      </a:r>
                      <a:r>
                        <a:rPr lang="en-US" sz="1000" kern="1200" dirty="0">
                          <a:solidFill>
                            <a:schemeClr val="tx1"/>
                          </a:solidFill>
                          <a:effectLst/>
                          <a:latin typeface="+mn-lt"/>
                          <a:ea typeface="+mn-ea"/>
                          <a:cs typeface="+mn-cs"/>
                        </a:rPr>
                        <a:t> 6.1</a:t>
                      </a:r>
                    </a:p>
                    <a:p>
                      <a:pPr marL="228600" marR="0" indent="-228600">
                        <a:spcBef>
                          <a:spcPts val="0"/>
                        </a:spcBef>
                        <a:spcAft>
                          <a:spcPts val="0"/>
                        </a:spcAft>
                        <a:buAutoNum type="arabicPeriod"/>
                      </a:pPr>
                      <a:r>
                        <a:rPr lang="en-US" sz="1000" kern="1200" dirty="0" err="1">
                          <a:solidFill>
                            <a:schemeClr val="tx1"/>
                          </a:solidFill>
                          <a:effectLst/>
                          <a:latin typeface="+mn-lt"/>
                          <a:ea typeface="+mn-ea"/>
                          <a:cs typeface="+mn-cs"/>
                        </a:rPr>
                        <a:t>Weblogic</a:t>
                      </a:r>
                      <a:r>
                        <a:rPr lang="en-US" sz="1000" kern="1200" dirty="0">
                          <a:solidFill>
                            <a:schemeClr val="tx1"/>
                          </a:solidFill>
                          <a:effectLst/>
                          <a:latin typeface="+mn-lt"/>
                          <a:ea typeface="+mn-ea"/>
                          <a:cs typeface="+mn-cs"/>
                        </a:rPr>
                        <a:t> instances - 10.3</a:t>
                      </a:r>
                    </a:p>
                    <a:p>
                      <a:pPr marL="228600" marR="0" indent="-228600">
                        <a:spcBef>
                          <a:spcPts val="0"/>
                        </a:spcBef>
                        <a:spcAft>
                          <a:spcPts val="0"/>
                        </a:spcAft>
                        <a:buAutoNum type="arabicPeriod"/>
                      </a:pPr>
                      <a:r>
                        <a:rPr lang="en-US" sz="1000" kern="1200" dirty="0" err="1">
                          <a:solidFill>
                            <a:schemeClr val="tx1"/>
                          </a:solidFill>
                          <a:effectLst/>
                          <a:latin typeface="+mn-lt"/>
                          <a:ea typeface="+mn-ea"/>
                          <a:cs typeface="+mn-cs"/>
                        </a:rPr>
                        <a:t>SiteMinder</a:t>
                      </a:r>
                      <a:r>
                        <a:rPr lang="en-US" sz="1000" kern="1200" dirty="0">
                          <a:solidFill>
                            <a:schemeClr val="tx1"/>
                          </a:solidFill>
                          <a:effectLst/>
                          <a:latin typeface="+mn-lt"/>
                          <a:ea typeface="+mn-ea"/>
                          <a:cs typeface="+mn-cs"/>
                        </a:rPr>
                        <a:t> policies</a:t>
                      </a:r>
                    </a:p>
                    <a:p>
                      <a:pPr marL="228600" marR="0" indent="-228600">
                        <a:spcBef>
                          <a:spcPts val="0"/>
                        </a:spcBef>
                        <a:spcAft>
                          <a:spcPts val="0"/>
                        </a:spcAft>
                        <a:buAutoNum type="arabicPeriod"/>
                      </a:pPr>
                      <a:r>
                        <a:rPr lang="en-US" sz="1000" kern="1200" dirty="0">
                          <a:solidFill>
                            <a:schemeClr val="tx1"/>
                          </a:solidFill>
                          <a:effectLst/>
                          <a:latin typeface="+mn-lt"/>
                          <a:ea typeface="+mn-ea"/>
                          <a:cs typeface="+mn-cs"/>
                        </a:rPr>
                        <a:t>Oracle DB instance (Primary and Report DB)</a:t>
                      </a:r>
                    </a:p>
                  </a:txBody>
                  <a:tcPr marL="20373" marR="20373" marT="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spcBef>
                          <a:spcPts val="0"/>
                        </a:spcBef>
                        <a:spcAft>
                          <a:spcPts val="0"/>
                        </a:spcAft>
                        <a:buNone/>
                      </a:pPr>
                      <a:endParaRPr lang="en-US" sz="1000" kern="1200" dirty="0">
                        <a:solidFill>
                          <a:schemeClr val="tx1"/>
                        </a:solidFill>
                        <a:effectLst/>
                        <a:latin typeface="+mn-lt"/>
                        <a:ea typeface="+mn-ea"/>
                        <a:cs typeface="+mn-cs"/>
                      </a:endParaRPr>
                    </a:p>
                    <a:p>
                      <a:pPr marL="228600" marR="0" indent="-228600">
                        <a:spcBef>
                          <a:spcPts val="0"/>
                        </a:spcBef>
                        <a:spcAft>
                          <a:spcPts val="0"/>
                        </a:spcAft>
                        <a:buFont typeface="+mj-lt"/>
                        <a:buAutoNum type="arabicPeriod" startAt="6"/>
                      </a:pPr>
                      <a:r>
                        <a:rPr lang="en-US" sz="1000" kern="1200" dirty="0">
                          <a:solidFill>
                            <a:schemeClr val="tx1"/>
                          </a:solidFill>
                          <a:effectLst/>
                          <a:latin typeface="+mn-lt"/>
                          <a:ea typeface="+mn-ea"/>
                          <a:cs typeface="+mn-cs"/>
                        </a:rPr>
                        <a:t>Active Directory application groups</a:t>
                      </a:r>
                    </a:p>
                    <a:p>
                      <a:pPr marL="228600" marR="0" indent="-228600">
                        <a:spcBef>
                          <a:spcPts val="0"/>
                        </a:spcBef>
                        <a:spcAft>
                          <a:spcPts val="0"/>
                        </a:spcAft>
                        <a:buFont typeface="+mj-lt"/>
                        <a:buAutoNum type="arabicPeriod" startAt="6"/>
                      </a:pPr>
                      <a:r>
                        <a:rPr lang="en-US" sz="1000" kern="1200" dirty="0">
                          <a:solidFill>
                            <a:schemeClr val="tx1"/>
                          </a:solidFill>
                          <a:effectLst/>
                          <a:latin typeface="+mn-lt"/>
                          <a:ea typeface="+mn-ea"/>
                          <a:cs typeface="+mn-cs"/>
                        </a:rPr>
                        <a:t>Autosys jobs</a:t>
                      </a:r>
                    </a:p>
                    <a:p>
                      <a:pPr marL="228600" marR="0" indent="-228600">
                        <a:spcBef>
                          <a:spcPts val="0"/>
                        </a:spcBef>
                        <a:spcAft>
                          <a:spcPts val="0"/>
                        </a:spcAft>
                        <a:buFont typeface="+mj-lt"/>
                        <a:buAutoNum type="arabicPeriod" startAt="6"/>
                      </a:pPr>
                      <a:r>
                        <a:rPr lang="en-US" sz="1000" kern="1200" dirty="0" err="1">
                          <a:solidFill>
                            <a:schemeClr val="tx1"/>
                          </a:solidFill>
                          <a:effectLst/>
                          <a:latin typeface="+mn-lt"/>
                          <a:ea typeface="+mn-ea"/>
                          <a:cs typeface="+mn-cs"/>
                        </a:rPr>
                        <a:t>FeedHub</a:t>
                      </a:r>
                      <a:r>
                        <a:rPr lang="en-US" sz="1000" kern="1200" dirty="0">
                          <a:solidFill>
                            <a:schemeClr val="tx1"/>
                          </a:solidFill>
                          <a:effectLst/>
                          <a:latin typeface="+mn-lt"/>
                          <a:ea typeface="+mn-ea"/>
                          <a:cs typeface="+mn-cs"/>
                        </a:rPr>
                        <a:t> accounts</a:t>
                      </a:r>
                    </a:p>
                    <a:p>
                      <a:pPr marL="228600" marR="0" indent="-228600">
                        <a:spcBef>
                          <a:spcPts val="0"/>
                        </a:spcBef>
                        <a:spcAft>
                          <a:spcPts val="0"/>
                        </a:spcAft>
                        <a:buFont typeface="+mj-lt"/>
                        <a:buAutoNum type="arabicPeriod" startAt="6"/>
                      </a:pPr>
                      <a:r>
                        <a:rPr lang="en-US" sz="1000" kern="1200" dirty="0" err="1">
                          <a:solidFill>
                            <a:schemeClr val="tx1"/>
                          </a:solidFill>
                          <a:effectLst/>
                          <a:latin typeface="+mn-lt"/>
                          <a:ea typeface="+mn-ea"/>
                          <a:cs typeface="+mn-cs"/>
                        </a:rPr>
                        <a:t>Infromatica</a:t>
                      </a:r>
                      <a:r>
                        <a:rPr lang="en-US" sz="1000" kern="1200" dirty="0">
                          <a:solidFill>
                            <a:schemeClr val="tx1"/>
                          </a:solidFill>
                          <a:effectLst/>
                          <a:latin typeface="+mn-lt"/>
                          <a:ea typeface="+mn-ea"/>
                          <a:cs typeface="+mn-cs"/>
                        </a:rPr>
                        <a:t> accounts</a:t>
                      </a:r>
                    </a:p>
                    <a:p>
                      <a:pPr marL="228600" marR="0" indent="-228600">
                        <a:spcBef>
                          <a:spcPts val="0"/>
                        </a:spcBef>
                        <a:spcAft>
                          <a:spcPts val="0"/>
                        </a:spcAft>
                        <a:buFont typeface="+mj-lt"/>
                        <a:buAutoNum type="arabicPeriod" startAt="6"/>
                      </a:pPr>
                      <a:r>
                        <a:rPr lang="en-US" sz="1000" kern="1200" dirty="0" err="1">
                          <a:solidFill>
                            <a:schemeClr val="tx1"/>
                          </a:solidFill>
                          <a:effectLst/>
                          <a:latin typeface="+mn-lt"/>
                          <a:ea typeface="+mn-ea"/>
                          <a:cs typeface="+mn-cs"/>
                        </a:rPr>
                        <a:t>Cognos</a:t>
                      </a:r>
                      <a:r>
                        <a:rPr lang="en-US" sz="1000" kern="1200" dirty="0">
                          <a:solidFill>
                            <a:schemeClr val="tx1"/>
                          </a:solidFill>
                          <a:effectLst/>
                          <a:latin typeface="+mn-lt"/>
                          <a:ea typeface="+mn-ea"/>
                          <a:cs typeface="+mn-cs"/>
                        </a:rPr>
                        <a:t> Jobs</a:t>
                      </a:r>
                    </a:p>
                  </a:txBody>
                  <a:tcPr marL="20373" marR="20373" marT="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TlToBr w="12700" cmpd="sng">
                      <a:noFill/>
                      <a:prstDash val="solid"/>
                    </a:lnTlToBr>
                    <a:lnBlToTr w="12700" cmpd="sng">
                      <a:noFill/>
                      <a:prstDash val="solid"/>
                    </a:lnBlToTr>
                  </a:tcPr>
                </a:tc>
                <a:extLst>
                  <a:ext uri="{0D108BD9-81ED-4DB2-BD59-A6C34878D82A}">
                    <a16:rowId xmlns:a16="http://schemas.microsoft.com/office/drawing/2014/main" val="1622001756"/>
                  </a:ext>
                </a:extLst>
              </a:tr>
              <a:tr h="454153">
                <a:tc>
                  <a:txBody>
                    <a:bodyPr/>
                    <a:lstStyle/>
                    <a:p>
                      <a:pPr marL="0" marR="0">
                        <a:spcBef>
                          <a:spcPts val="0"/>
                        </a:spcBef>
                        <a:spcAft>
                          <a:spcPts val="0"/>
                        </a:spcAft>
                      </a:pPr>
                      <a:r>
                        <a:rPr lang="en-CA" sz="1000" dirty="0">
                          <a:effectLst/>
                        </a:rPr>
                        <a:t>RO/Business</a:t>
                      </a:r>
                      <a:endParaRPr lang="en-US" sz="1000" dirty="0">
                        <a:effectLst/>
                        <a:latin typeface="+mn-lt"/>
                        <a:ea typeface="Calibri" panose="020F0502020204030204" pitchFamily="34" charset="0"/>
                      </a:endParaRPr>
                    </a:p>
                  </a:txBody>
                  <a:tcPr marL="20373" marR="20373" marT="0" marB="0">
                    <a:lnR w="12700" cap="flat" cmpd="sng" algn="ctr">
                      <a:solidFill>
                        <a:schemeClr val="tx1"/>
                      </a:solidFill>
                      <a:prstDash val="solid"/>
                      <a:round/>
                      <a:headEnd type="none" w="med" len="med"/>
                      <a:tailEnd type="none" w="med" len="med"/>
                    </a:lnR>
                  </a:tcPr>
                </a:tc>
                <a:tc>
                  <a:txBody>
                    <a:bodyPr/>
                    <a:lstStyle/>
                    <a:p>
                      <a:pPr marL="228600" marR="0" indent="-228600" algn="l" defTabSz="914400" rtl="0" eaLnBrk="1" latinLnBrk="0" hangingPunct="1">
                        <a:spcBef>
                          <a:spcPts val="0"/>
                        </a:spcBef>
                        <a:spcAft>
                          <a:spcPts val="0"/>
                        </a:spcAft>
                        <a:buAutoNum type="arabicPeriod"/>
                      </a:pPr>
                      <a:r>
                        <a:rPr lang="en-CA" sz="1000" kern="1200" dirty="0">
                          <a:solidFill>
                            <a:schemeClr val="tx1"/>
                          </a:solidFill>
                          <a:effectLst/>
                          <a:latin typeface="+mn-lt"/>
                          <a:ea typeface="+mn-ea"/>
                          <a:cs typeface="+mn-cs"/>
                        </a:rPr>
                        <a:t>O</a:t>
                      </a:r>
                      <a:r>
                        <a:rPr lang="en-US" sz="1000" kern="1200" dirty="0">
                          <a:solidFill>
                            <a:schemeClr val="tx1"/>
                          </a:solidFill>
                          <a:effectLst/>
                          <a:latin typeface="+mn-lt"/>
                          <a:ea typeface="+mn-ea"/>
                          <a:cs typeface="+mn-cs"/>
                        </a:rPr>
                        <a:t>ne time Points Purchase </a:t>
                      </a:r>
                    </a:p>
                    <a:p>
                      <a:pPr marL="228600" marR="0" indent="-228600" algn="l" defTabSz="914400" rtl="0" eaLnBrk="1" latinLnBrk="0" hangingPunct="1">
                        <a:spcBef>
                          <a:spcPts val="0"/>
                        </a:spcBef>
                        <a:spcAft>
                          <a:spcPts val="0"/>
                        </a:spcAft>
                        <a:buAutoNum type="arabicPeriod"/>
                      </a:pPr>
                      <a:r>
                        <a:rPr lang="en-CA" sz="1000" kern="1200" dirty="0">
                          <a:solidFill>
                            <a:schemeClr val="tx1"/>
                          </a:solidFill>
                          <a:effectLst/>
                          <a:latin typeface="+mn-lt"/>
                          <a:ea typeface="+mn-ea"/>
                          <a:cs typeface="+mn-cs"/>
                        </a:rPr>
                        <a:t>E</a:t>
                      </a:r>
                      <a:r>
                        <a:rPr lang="en-US" sz="1000" kern="1200" dirty="0" err="1">
                          <a:solidFill>
                            <a:schemeClr val="tx1"/>
                          </a:solidFill>
                          <a:effectLst/>
                          <a:latin typeface="+mn-lt"/>
                          <a:ea typeface="+mn-ea"/>
                          <a:cs typeface="+mn-cs"/>
                        </a:rPr>
                        <a:t>ntry</a:t>
                      </a:r>
                      <a:r>
                        <a:rPr lang="en-US" sz="1000" kern="1200" dirty="0">
                          <a:solidFill>
                            <a:schemeClr val="tx1"/>
                          </a:solidFill>
                          <a:effectLst/>
                          <a:latin typeface="+mn-lt"/>
                          <a:ea typeface="+mn-ea"/>
                          <a:cs typeface="+mn-cs"/>
                        </a:rPr>
                        <a:t> of Points Payout into Eureka</a:t>
                      </a:r>
                    </a:p>
                    <a:p>
                      <a:pPr marL="228600" marR="0" indent="-228600" algn="l" defTabSz="914400" rtl="0" eaLnBrk="1" latinLnBrk="0" hangingPunct="1">
                        <a:spcBef>
                          <a:spcPts val="0"/>
                        </a:spcBef>
                        <a:spcAft>
                          <a:spcPts val="0"/>
                        </a:spcAft>
                        <a:buAutoNum type="arabicPeriod"/>
                      </a:pPr>
                      <a:r>
                        <a:rPr lang="en-US" sz="1000" kern="1200" dirty="0">
                          <a:solidFill>
                            <a:schemeClr val="tx1"/>
                          </a:solidFill>
                          <a:effectLst/>
                          <a:latin typeface="+mn-lt"/>
                          <a:ea typeface="+mn-ea"/>
                          <a:cs typeface="+mn-cs"/>
                        </a:rPr>
                        <a:t>Letter Translation</a:t>
                      </a:r>
                    </a:p>
                  </a:txBody>
                  <a:tcPr marL="20373" marR="20373" marT="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4"/>
                        <a:tabLst/>
                        <a:defRPr/>
                      </a:pPr>
                      <a:r>
                        <a:rPr lang="en-US" sz="1000" kern="1200" dirty="0">
                          <a:solidFill>
                            <a:schemeClr val="tx1"/>
                          </a:solidFill>
                          <a:effectLst/>
                          <a:latin typeface="+mn-lt"/>
                          <a:ea typeface="+mn-ea"/>
                          <a:cs typeface="+mn-cs"/>
                        </a:rPr>
                        <a:t>Letter Generation (400 letters)</a:t>
                      </a:r>
                    </a:p>
                    <a:p>
                      <a:pPr marL="228600" marR="0" indent="-228600" algn="l" defTabSz="914400" rtl="0" eaLnBrk="1" latinLnBrk="0" hangingPunct="1">
                        <a:spcBef>
                          <a:spcPts val="0"/>
                        </a:spcBef>
                        <a:spcAft>
                          <a:spcPts val="0"/>
                        </a:spcAft>
                        <a:buFont typeface="+mj-lt"/>
                        <a:buAutoNum type="arabicPeriod" startAt="4"/>
                      </a:pPr>
                      <a:r>
                        <a:rPr lang="en-US" sz="1000" kern="1200" dirty="0">
                          <a:solidFill>
                            <a:schemeClr val="tx1"/>
                          </a:solidFill>
                          <a:effectLst/>
                          <a:latin typeface="+mn-lt"/>
                          <a:ea typeface="+mn-ea"/>
                          <a:cs typeface="+mn-cs"/>
                        </a:rPr>
                        <a:t>Payout message on Excalibur</a:t>
                      </a:r>
                    </a:p>
                    <a:p>
                      <a:pPr marL="228600" marR="0" indent="-228600" algn="l" defTabSz="914400" rtl="0" eaLnBrk="1" latinLnBrk="0" hangingPunct="1">
                        <a:spcBef>
                          <a:spcPts val="0"/>
                        </a:spcBef>
                        <a:spcAft>
                          <a:spcPts val="0"/>
                        </a:spcAft>
                        <a:buFont typeface="+mj-lt"/>
                        <a:buAutoNum type="arabicPeriod" startAt="4"/>
                      </a:pPr>
                      <a:r>
                        <a:rPr lang="en-US" sz="1000" kern="1200" dirty="0">
                          <a:solidFill>
                            <a:schemeClr val="tx1"/>
                          </a:solidFill>
                          <a:effectLst/>
                          <a:latin typeface="+mn-lt"/>
                          <a:ea typeface="+mn-ea"/>
                          <a:cs typeface="+mn-cs"/>
                        </a:rPr>
                        <a:t>Mailing costs</a:t>
                      </a:r>
                    </a:p>
                  </a:txBody>
                  <a:tcPr marL="20373" marR="20373" marT="0" marB="0">
                    <a:lnL w="12700" cmpd="sng">
                      <a:noFill/>
                    </a:lnL>
                  </a:tcPr>
                </a:tc>
                <a:extLst>
                  <a:ext uri="{0D108BD9-81ED-4DB2-BD59-A6C34878D82A}">
                    <a16:rowId xmlns:a16="http://schemas.microsoft.com/office/drawing/2014/main" val="3137944175"/>
                  </a:ext>
                </a:extLst>
              </a:tr>
            </a:tbl>
          </a:graphicData>
        </a:graphic>
      </p:graphicFrame>
      <p:graphicFrame>
        <p:nvGraphicFramePr>
          <p:cNvPr id="13" name="Table 12">
            <a:extLst>
              <a:ext uri="{FF2B5EF4-FFF2-40B4-BE49-F238E27FC236}">
                <a16:creationId xmlns:a16="http://schemas.microsoft.com/office/drawing/2014/main" id="{B0C67DE5-4493-4FBE-A9D1-4192DC495AAE}"/>
              </a:ext>
            </a:extLst>
          </p:cNvPr>
          <p:cNvGraphicFramePr>
            <a:graphicFrameLocks noGrp="1"/>
          </p:cNvGraphicFramePr>
          <p:nvPr>
            <p:extLst>
              <p:ext uri="{D42A27DB-BD31-4B8C-83A1-F6EECF244321}">
                <p14:modId xmlns:p14="http://schemas.microsoft.com/office/powerpoint/2010/main" val="1286446844"/>
              </p:ext>
            </p:extLst>
          </p:nvPr>
        </p:nvGraphicFramePr>
        <p:xfrm>
          <a:off x="454848" y="4645859"/>
          <a:ext cx="7771000" cy="571500"/>
        </p:xfrm>
        <a:graphic>
          <a:graphicData uri="http://schemas.openxmlformats.org/drawingml/2006/table">
            <a:tbl>
              <a:tblPr firstRow="1" bandRow="1">
                <a:tableStyleId>{5C22544A-7EE6-4342-B048-85BDC9FD1C3A}</a:tableStyleId>
              </a:tblPr>
              <a:tblGrid>
                <a:gridCol w="7771000">
                  <a:extLst>
                    <a:ext uri="{9D8B030D-6E8A-4147-A177-3AD203B41FA5}">
                      <a16:colId xmlns:a16="http://schemas.microsoft.com/office/drawing/2014/main" val="968018634"/>
                    </a:ext>
                  </a:extLst>
                </a:gridCol>
              </a:tblGrid>
              <a:tr h="295324">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CA" sz="1050" noProof="0" dirty="0">
                          <a:solidFill>
                            <a:srgbClr val="C00000"/>
                          </a:solidFill>
                        </a:rPr>
                        <a:t>Implications</a:t>
                      </a:r>
                      <a:endParaRPr lang="en-CA" sz="1050" b="1" noProof="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CA" sz="1050" b="1" noProof="0" dirty="0">
                        <a:solidFill>
                          <a:schemeClr val="tx1"/>
                        </a:solidFill>
                      </a:endParaRPr>
                    </a:p>
                    <a:p>
                      <a:pPr marL="228600" lvl="0" indent="-228600">
                        <a:buFont typeface="+mj-lt"/>
                        <a:buAutoNum type="arabicPeriod"/>
                      </a:pPr>
                      <a:r>
                        <a:rPr lang="en-CA" sz="1050" b="0" kern="1200" dirty="0">
                          <a:solidFill>
                            <a:schemeClr val="tx1"/>
                          </a:solidFill>
                          <a:latin typeface="+mn-lt"/>
                          <a:ea typeface="+mn-ea"/>
                          <a:cs typeface="+mn-cs"/>
                        </a:rPr>
                        <a:t>PD/Forms need to get involved.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8277223"/>
                  </a:ext>
                </a:extLst>
              </a:tr>
            </a:tbl>
          </a:graphicData>
        </a:graphic>
      </p:graphicFrame>
    </p:spTree>
    <p:extLst>
      <p:ext uri="{BB962C8B-B14F-4D97-AF65-F5344CB8AC3E}">
        <p14:creationId xmlns:p14="http://schemas.microsoft.com/office/powerpoint/2010/main" val="15696263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1823</TotalTime>
  <Words>492</Words>
  <Application>Microsoft Office PowerPoint</Application>
  <PresentationFormat>On-screen Show (4:3)</PresentationFormat>
  <Paragraphs>132</Paragraphs>
  <Slides>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Symbol</vt:lpstr>
      <vt:lpstr>Office Theme</vt:lpstr>
      <vt:lpstr>Aeroplan Miles Payout  </vt:lpstr>
      <vt:lpstr>Appendix 1</vt:lpstr>
      <vt:lpstr>Appendix 1</vt:lpstr>
    </vt:vector>
  </TitlesOfParts>
  <Company>CIBC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RESL Calculators</dc:title>
  <dc:creator>Suvendran, Arthithyen</dc:creator>
  <cp:lastModifiedBy>Suren</cp:lastModifiedBy>
  <cp:revision>64</cp:revision>
  <dcterms:created xsi:type="dcterms:W3CDTF">2019-02-04T16:16:05Z</dcterms:created>
  <dcterms:modified xsi:type="dcterms:W3CDTF">2026-03-03T00:28:47Z</dcterms:modified>
</cp:coreProperties>
</file>