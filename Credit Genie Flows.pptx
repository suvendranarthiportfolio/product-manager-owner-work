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01" r:id="rId3"/>
    <p:sldId id="265" r:id="rId4"/>
    <p:sldId id="259" r:id="rId5"/>
    <p:sldId id="260" r:id="rId6"/>
    <p:sldId id="261" r:id="rId7"/>
    <p:sldId id="278" r:id="rId8"/>
    <p:sldId id="275" r:id="rId9"/>
    <p:sldId id="263" r:id="rId10"/>
    <p:sldId id="280" r:id="rId11"/>
    <p:sldId id="281" r:id="rId12"/>
    <p:sldId id="289" r:id="rId13"/>
    <p:sldId id="282" r:id="rId14"/>
    <p:sldId id="266" r:id="rId15"/>
    <p:sldId id="284" r:id="rId16"/>
    <p:sldId id="283" r:id="rId17"/>
    <p:sldId id="293" r:id="rId18"/>
    <p:sldId id="277" r:id="rId19"/>
    <p:sldId id="268" r:id="rId20"/>
    <p:sldId id="294" r:id="rId21"/>
    <p:sldId id="269" r:id="rId22"/>
    <p:sldId id="270" r:id="rId23"/>
    <p:sldId id="271" r:id="rId24"/>
    <p:sldId id="276" r:id="rId25"/>
    <p:sldId id="272" r:id="rId26"/>
    <p:sldId id="296" r:id="rId27"/>
    <p:sldId id="285" r:id="rId28"/>
    <p:sldId id="273" r:id="rId29"/>
    <p:sldId id="295" r:id="rId30"/>
    <p:sldId id="298" r:id="rId31"/>
    <p:sldId id="287" r:id="rId32"/>
    <p:sldId id="300" r:id="rId33"/>
    <p:sldId id="299" r:id="rId34"/>
    <p:sldId id="302" r:id="rId35"/>
    <p:sldId id="267" r:id="rId36"/>
    <p:sldId id="303" r:id="rId37"/>
    <p:sldId id="297" r:id="rId38"/>
    <p:sldId id="288" r:id="rId39"/>
    <p:sldId id="286" r:id="rId40"/>
  </p:sldIdLst>
  <p:sldSz cx="9144000" cy="6858000" type="screen4x3"/>
  <p:notesSz cx="7010400" cy="92964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Candara" pitchFamily="34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Candara" pitchFamily="34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Candara" pitchFamily="34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Candara" pitchFamily="34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Candara" pitchFamily="34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Candara" pitchFamily="34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Candara" pitchFamily="34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Candara" pitchFamily="34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Candara" pitchFamily="34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pdesk" initials="h" lastIdx="1" clrIdx="0"/>
  <p:cmAuthor id="1" name="John Godbout" initials="JG" lastIdx="5" clrIdx="1">
    <p:extLst>
      <p:ext uri="{19B8F6BF-5375-455C-9EA6-DF929625EA0E}">
        <p15:presenceInfo xmlns:p15="http://schemas.microsoft.com/office/powerpoint/2012/main" userId="S::john.godbout@alterna.ca::77842fb7-c628-45e0-9703-d885ac78ae69" providerId="AD"/>
      </p:ext>
    </p:extLst>
  </p:cmAuthor>
  <p:cmAuthor id="2" name="Jason Gregoire" initials="JG" lastIdx="1" clrIdx="2">
    <p:extLst>
      <p:ext uri="{19B8F6BF-5375-455C-9EA6-DF929625EA0E}">
        <p15:presenceInfo xmlns:p15="http://schemas.microsoft.com/office/powerpoint/2012/main" userId="S::Jason.Gregoire@alterna.ca::03878385-ecdb-4639-aff6-1c0507dcd30f" providerId="AD"/>
      </p:ext>
    </p:extLst>
  </p:cmAuthor>
  <p:cmAuthor id="3" name="Ivan Jankovic" initials="IJ" lastIdx="1" clrIdx="3">
    <p:extLst>
      <p:ext uri="{19B8F6BF-5375-455C-9EA6-DF929625EA0E}">
        <p15:presenceInfo xmlns:p15="http://schemas.microsoft.com/office/powerpoint/2012/main" userId="S::Ivan.Jankovic@alterna.ca::1fd80d71-39ca-4999-97e5-780534fdeb47" providerId="AD"/>
      </p:ext>
    </p:extLst>
  </p:cmAuthor>
  <p:cmAuthor id="4" name="Arthi Suvendran" initials="AS" lastIdx="10" clrIdx="4">
    <p:extLst>
      <p:ext uri="{19B8F6BF-5375-455C-9EA6-DF929625EA0E}">
        <p15:presenceInfo xmlns:p15="http://schemas.microsoft.com/office/powerpoint/2012/main" userId="S::Arthithyen.Suvendran@Alterna.ca::581c99ac-115a-45b5-bbc5-c5158568fdd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A634"/>
    <a:srgbClr val="0000FF"/>
    <a:srgbClr val="FFCC99"/>
    <a:srgbClr val="E2EFB3"/>
    <a:srgbClr val="819CD1"/>
    <a:srgbClr val="3B73B9"/>
    <a:srgbClr val="62CAE3"/>
    <a:srgbClr val="DCDEE0"/>
    <a:srgbClr val="6A737B"/>
    <a:srgbClr val="6CAE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1760" autoAdjust="0"/>
  </p:normalViewPr>
  <p:slideViewPr>
    <p:cSldViewPr>
      <p:cViewPr varScale="1">
        <p:scale>
          <a:sx n="80" d="100"/>
          <a:sy n="80" d="100"/>
        </p:scale>
        <p:origin x="144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732" y="-72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19-10-24T16:16:24.163" idx="1">
    <p:pos x="4109" y="1376"/>
    <p:text>change the contact number</p:text>
    <p:extLst>
      <p:ext uri="{C676402C-5697-4E1C-873F-D02D1690AC5C}">
        <p15:threadingInfo xmlns:p15="http://schemas.microsoft.com/office/powerpoint/2012/main" timeZoneBias="240"/>
      </p:ext>
    </p:extLst>
  </p:cm>
  <p:cm authorId="4" dt="2019-10-24T16:16:57.479" idx="2">
    <p:pos x="4069" y="2046"/>
    <p:text>We need a reminder email after 5 business days</p:text>
    <p:extLst>
      <p:ext uri="{C676402C-5697-4E1C-873F-D02D1690AC5C}">
        <p15:threadingInfo xmlns:p15="http://schemas.microsoft.com/office/powerpoint/2012/main" timeZoneBias="240"/>
      </p:ext>
    </p:extLst>
  </p:cm>
  <p:cm authorId="4" dt="2019-10-24T16:17:20.035" idx="3">
    <p:pos x="1310" y="1507"/>
    <p:text/>
    <p:extLst>
      <p:ext uri="{C676402C-5697-4E1C-873F-D02D1690AC5C}">
        <p15:threadingInfo xmlns:p15="http://schemas.microsoft.com/office/powerpoint/2012/main" timeZoneBias="240"/>
      </p:ext>
    </p:extLst>
  </p:cm>
  <p:cm authorId="4" dt="2019-10-24T16:22:21.874" idx="4">
    <p:pos x="1310" y="1643"/>
    <p:text>Confirm when refernce ID is created - should be here</p:text>
    <p:extLst>
      <p:ext uri="{C676402C-5697-4E1C-873F-D02D1690AC5C}">
        <p15:threadingInfo xmlns:p15="http://schemas.microsoft.com/office/powerpoint/2012/main" timeZoneBias="240">
          <p15:parentCm authorId="4" idx="3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19-10-24T17:50:11.898" idx="10">
    <p:pos x="2082" y="738"/>
    <p:text>Add requirment for temporary password - Creatre your tempaoray password for Online Banking.</p:text>
    <p:extLst>
      <p:ext uri="{C676402C-5697-4E1C-873F-D02D1690AC5C}">
        <p15:threadingInfo xmlns:p15="http://schemas.microsoft.com/office/powerpoint/2012/main" timeZoneBias="2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0A0140-1A58-4739-BC53-4CCBB246E450}" type="doc">
      <dgm:prSet loTypeId="urn:microsoft.com/office/officeart/2005/8/layout/target3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1612B3E-FA26-42A0-AFC8-9760E7535641}">
      <dgm:prSet phldrT="[Text]"/>
      <dgm:spPr/>
      <dgm:t>
        <a:bodyPr/>
        <a:lstStyle/>
        <a:p>
          <a:r>
            <a:rPr lang="en-US" dirty="0"/>
            <a:t>Approved</a:t>
          </a:r>
        </a:p>
      </dgm:t>
    </dgm:pt>
    <dgm:pt modelId="{9058A63D-ECDE-4BDC-B645-C684FAD81541}" type="parTrans" cxnId="{0EB91056-9DCF-4634-A2C7-68094C5C65DC}">
      <dgm:prSet/>
      <dgm:spPr/>
      <dgm:t>
        <a:bodyPr/>
        <a:lstStyle/>
        <a:p>
          <a:endParaRPr lang="en-US"/>
        </a:p>
      </dgm:t>
    </dgm:pt>
    <dgm:pt modelId="{14C46844-EBF3-4FE7-8600-F98A2E242FF0}" type="sibTrans" cxnId="{0EB91056-9DCF-4634-A2C7-68094C5C65DC}">
      <dgm:prSet/>
      <dgm:spPr/>
      <dgm:t>
        <a:bodyPr/>
        <a:lstStyle/>
        <a:p>
          <a:endParaRPr lang="en-US"/>
        </a:p>
      </dgm:t>
    </dgm:pt>
    <dgm:pt modelId="{0FCFD8C6-B7AC-428E-AA43-46727617EE6A}">
      <dgm:prSet phldrT="[Text]"/>
      <dgm:spPr/>
      <dgm:t>
        <a:bodyPr/>
        <a:lstStyle/>
        <a:p>
          <a:r>
            <a:rPr lang="en-US" dirty="0"/>
            <a:t>RCSC</a:t>
          </a:r>
        </a:p>
      </dgm:t>
    </dgm:pt>
    <dgm:pt modelId="{6A5241A6-ED47-4C07-99D8-39EAD022F519}" type="parTrans" cxnId="{F3A4EB75-C482-4079-A56B-F30F5B0C94E4}">
      <dgm:prSet/>
      <dgm:spPr/>
      <dgm:t>
        <a:bodyPr/>
        <a:lstStyle/>
        <a:p>
          <a:endParaRPr lang="en-US"/>
        </a:p>
      </dgm:t>
    </dgm:pt>
    <dgm:pt modelId="{0D1807F6-D1E6-434E-B092-3D14FC5FA8BC}" type="sibTrans" cxnId="{F3A4EB75-C482-4079-A56B-F30F5B0C94E4}">
      <dgm:prSet/>
      <dgm:spPr/>
      <dgm:t>
        <a:bodyPr/>
        <a:lstStyle/>
        <a:p>
          <a:endParaRPr lang="en-US"/>
        </a:p>
      </dgm:t>
    </dgm:pt>
    <dgm:pt modelId="{9A1E907E-567C-46E9-994C-D4EEE79F5ECA}">
      <dgm:prSet phldrT="[Text]"/>
      <dgm:spPr/>
      <dgm:t>
        <a:bodyPr/>
        <a:lstStyle/>
        <a:p>
          <a:r>
            <a:rPr lang="en-US" dirty="0"/>
            <a:t>Credit ops</a:t>
          </a:r>
        </a:p>
      </dgm:t>
    </dgm:pt>
    <dgm:pt modelId="{1C1C6CA1-54DC-446B-9F16-761644D5E061}" type="parTrans" cxnId="{26BE6AF5-A6E1-48D7-887D-F62CF46481B2}">
      <dgm:prSet/>
      <dgm:spPr/>
      <dgm:t>
        <a:bodyPr/>
        <a:lstStyle/>
        <a:p>
          <a:endParaRPr lang="en-US"/>
        </a:p>
      </dgm:t>
    </dgm:pt>
    <dgm:pt modelId="{EDC2197A-00AD-44F4-A908-4C6C95E3C6AF}" type="sibTrans" cxnId="{26BE6AF5-A6E1-48D7-887D-F62CF46481B2}">
      <dgm:prSet/>
      <dgm:spPr/>
      <dgm:t>
        <a:bodyPr/>
        <a:lstStyle/>
        <a:p>
          <a:endParaRPr lang="en-US"/>
        </a:p>
      </dgm:t>
    </dgm:pt>
    <dgm:pt modelId="{12E8302E-88B6-408C-9099-070F0FC729FE}">
      <dgm:prSet phldrT="[Text]"/>
      <dgm:spPr/>
      <dgm:t>
        <a:bodyPr/>
        <a:lstStyle/>
        <a:p>
          <a:r>
            <a:rPr lang="en-US" dirty="0"/>
            <a:t>Rejected </a:t>
          </a:r>
        </a:p>
      </dgm:t>
    </dgm:pt>
    <dgm:pt modelId="{049457F3-2F34-4438-85C2-B04E69E6BF2C}" type="parTrans" cxnId="{6BA96C31-0908-44F5-BCFF-C7226A05D74C}">
      <dgm:prSet/>
      <dgm:spPr/>
      <dgm:t>
        <a:bodyPr/>
        <a:lstStyle/>
        <a:p>
          <a:endParaRPr lang="en-US"/>
        </a:p>
      </dgm:t>
    </dgm:pt>
    <dgm:pt modelId="{80CB432F-8960-484D-AE03-1E882D9F1E78}" type="sibTrans" cxnId="{6BA96C31-0908-44F5-BCFF-C7226A05D74C}">
      <dgm:prSet/>
      <dgm:spPr/>
      <dgm:t>
        <a:bodyPr/>
        <a:lstStyle/>
        <a:p>
          <a:endParaRPr lang="en-US"/>
        </a:p>
      </dgm:t>
    </dgm:pt>
    <dgm:pt modelId="{53E509EF-CBFD-48A9-B767-2AA54F6B4AD3}">
      <dgm:prSet phldrT="[Text]"/>
      <dgm:spPr/>
      <dgm:t>
        <a:bodyPr/>
        <a:lstStyle/>
        <a:p>
          <a:r>
            <a:rPr lang="en-US" strike="sngStrike" dirty="0"/>
            <a:t>Fraud</a:t>
          </a:r>
        </a:p>
      </dgm:t>
    </dgm:pt>
    <dgm:pt modelId="{B1DFA446-B8B3-4BD8-94A6-9CFDD8D06E54}" type="parTrans" cxnId="{A71532D8-02E5-4BA6-8DFE-8F33471162DD}">
      <dgm:prSet/>
      <dgm:spPr/>
      <dgm:t>
        <a:bodyPr/>
        <a:lstStyle/>
        <a:p>
          <a:endParaRPr lang="en-US"/>
        </a:p>
      </dgm:t>
    </dgm:pt>
    <dgm:pt modelId="{1F84AE45-80AD-4087-AADF-776BDD884505}" type="sibTrans" cxnId="{A71532D8-02E5-4BA6-8DFE-8F33471162DD}">
      <dgm:prSet/>
      <dgm:spPr/>
      <dgm:t>
        <a:bodyPr/>
        <a:lstStyle/>
        <a:p>
          <a:endParaRPr lang="en-US"/>
        </a:p>
      </dgm:t>
    </dgm:pt>
    <dgm:pt modelId="{6ADB7E38-7B49-4A7B-BEE5-7F1A8540A291}">
      <dgm:prSet phldrT="[Text]"/>
      <dgm:spPr/>
      <dgm:t>
        <a:bodyPr/>
        <a:lstStyle/>
        <a:p>
          <a:r>
            <a:rPr lang="en-US" strike="sngStrike" dirty="0"/>
            <a:t>RCSC</a:t>
          </a:r>
          <a:r>
            <a:rPr lang="en-US" dirty="0"/>
            <a:t> </a:t>
          </a:r>
        </a:p>
      </dgm:t>
    </dgm:pt>
    <dgm:pt modelId="{A4DF2AE1-2454-4A11-BEFC-00EAAE3645F2}" type="parTrans" cxnId="{BB5DCC0F-7501-4AAD-9264-DC241DEC33DC}">
      <dgm:prSet/>
      <dgm:spPr/>
      <dgm:t>
        <a:bodyPr/>
        <a:lstStyle/>
        <a:p>
          <a:endParaRPr lang="en-US"/>
        </a:p>
      </dgm:t>
    </dgm:pt>
    <dgm:pt modelId="{9405FC1A-3A64-4E2B-9013-81F6A27EC263}" type="sibTrans" cxnId="{BB5DCC0F-7501-4AAD-9264-DC241DEC33DC}">
      <dgm:prSet/>
      <dgm:spPr/>
      <dgm:t>
        <a:bodyPr/>
        <a:lstStyle/>
        <a:p>
          <a:endParaRPr lang="en-US"/>
        </a:p>
      </dgm:t>
    </dgm:pt>
    <dgm:pt modelId="{C069A53D-4B5D-4623-B7CB-2C58F4126F35}">
      <dgm:prSet phldrT="[Text]"/>
      <dgm:spPr/>
      <dgm:t>
        <a:bodyPr/>
        <a:lstStyle/>
        <a:p>
          <a:r>
            <a:rPr lang="en-US" dirty="0"/>
            <a:t>Review</a:t>
          </a:r>
        </a:p>
      </dgm:t>
    </dgm:pt>
    <dgm:pt modelId="{10AA3146-FE21-4ADC-8A22-D86C85AE8F3B}" type="parTrans" cxnId="{67B38E73-FEBB-4B9A-A9AF-ED910CFABA3C}">
      <dgm:prSet/>
      <dgm:spPr/>
      <dgm:t>
        <a:bodyPr/>
        <a:lstStyle/>
        <a:p>
          <a:endParaRPr lang="en-US"/>
        </a:p>
      </dgm:t>
    </dgm:pt>
    <dgm:pt modelId="{A703E19F-2AAE-410C-BF67-191CA7FDBB40}" type="sibTrans" cxnId="{67B38E73-FEBB-4B9A-A9AF-ED910CFABA3C}">
      <dgm:prSet/>
      <dgm:spPr/>
      <dgm:t>
        <a:bodyPr/>
        <a:lstStyle/>
        <a:p>
          <a:endParaRPr lang="en-US"/>
        </a:p>
      </dgm:t>
    </dgm:pt>
    <dgm:pt modelId="{1F501330-BE04-4C9B-BCD7-E44D91C4E847}">
      <dgm:prSet phldrT="[Text]"/>
      <dgm:spPr/>
      <dgm:t>
        <a:bodyPr/>
        <a:lstStyle/>
        <a:p>
          <a:r>
            <a:rPr lang="en-US" dirty="0"/>
            <a:t>RCSC</a:t>
          </a:r>
        </a:p>
      </dgm:t>
    </dgm:pt>
    <dgm:pt modelId="{F2D313D2-02ED-4DF5-A6C4-CE58C8DFAA8A}" type="parTrans" cxnId="{395DDF87-8C5B-4B3A-B695-3B4BE747B16D}">
      <dgm:prSet/>
      <dgm:spPr/>
      <dgm:t>
        <a:bodyPr/>
        <a:lstStyle/>
        <a:p>
          <a:endParaRPr lang="en-US"/>
        </a:p>
      </dgm:t>
    </dgm:pt>
    <dgm:pt modelId="{6652957B-2132-4A55-8EC7-3E349BE4193A}" type="sibTrans" cxnId="{395DDF87-8C5B-4B3A-B695-3B4BE747B16D}">
      <dgm:prSet/>
      <dgm:spPr/>
      <dgm:t>
        <a:bodyPr/>
        <a:lstStyle/>
        <a:p>
          <a:endParaRPr lang="en-US"/>
        </a:p>
      </dgm:t>
    </dgm:pt>
    <dgm:pt modelId="{A54048E4-00CE-4370-A840-0AC455E6BBA6}">
      <dgm:prSet phldrT="[Text]"/>
      <dgm:spPr/>
      <dgm:t>
        <a:bodyPr/>
        <a:lstStyle/>
        <a:p>
          <a:r>
            <a:rPr lang="en-US" dirty="0"/>
            <a:t>Fraud</a:t>
          </a:r>
        </a:p>
      </dgm:t>
    </dgm:pt>
    <dgm:pt modelId="{CF8F715B-8EF7-4528-9CEC-324A95E2F2D5}" type="parTrans" cxnId="{D98A6226-4C3B-4E68-AB0B-3817A4E84150}">
      <dgm:prSet/>
      <dgm:spPr/>
      <dgm:t>
        <a:bodyPr/>
        <a:lstStyle/>
        <a:p>
          <a:endParaRPr lang="en-US"/>
        </a:p>
      </dgm:t>
    </dgm:pt>
    <dgm:pt modelId="{36D25233-EF01-4DA1-A664-C1765BE2ECF7}" type="sibTrans" cxnId="{D98A6226-4C3B-4E68-AB0B-3817A4E84150}">
      <dgm:prSet/>
      <dgm:spPr/>
      <dgm:t>
        <a:bodyPr/>
        <a:lstStyle/>
        <a:p>
          <a:endParaRPr lang="en-US"/>
        </a:p>
      </dgm:t>
    </dgm:pt>
    <dgm:pt modelId="{A8527190-B207-454F-A79D-D59C81474F95}">
      <dgm:prSet phldrT="[Text]"/>
      <dgm:spPr/>
      <dgm:t>
        <a:bodyPr/>
        <a:lstStyle/>
        <a:p>
          <a:r>
            <a:rPr lang="en-US" dirty="0"/>
            <a:t>Incomplete</a:t>
          </a:r>
        </a:p>
      </dgm:t>
    </dgm:pt>
    <dgm:pt modelId="{F090CA7F-CFD3-48C9-AD20-1FCACA55B5CB}" type="parTrans" cxnId="{6DA8A59A-DF35-44A8-9219-21BBE7D6E303}">
      <dgm:prSet/>
      <dgm:spPr/>
      <dgm:t>
        <a:bodyPr/>
        <a:lstStyle/>
        <a:p>
          <a:endParaRPr lang="en-US"/>
        </a:p>
      </dgm:t>
    </dgm:pt>
    <dgm:pt modelId="{E91767FE-7126-4D6E-B494-0F440B667147}" type="sibTrans" cxnId="{6DA8A59A-DF35-44A8-9219-21BBE7D6E303}">
      <dgm:prSet/>
      <dgm:spPr/>
      <dgm:t>
        <a:bodyPr/>
        <a:lstStyle/>
        <a:p>
          <a:endParaRPr lang="en-US"/>
        </a:p>
      </dgm:t>
    </dgm:pt>
    <dgm:pt modelId="{D9672B0C-9703-4528-9507-0B0380FFBEB7}">
      <dgm:prSet phldrT="[Text]"/>
      <dgm:spPr/>
      <dgm:t>
        <a:bodyPr/>
        <a:lstStyle/>
        <a:p>
          <a:r>
            <a:rPr lang="en-US" strike="sngStrike" dirty="0"/>
            <a:t>Contact center</a:t>
          </a:r>
        </a:p>
      </dgm:t>
    </dgm:pt>
    <dgm:pt modelId="{35153790-493E-45E9-AB0D-104F44BE71E1}" type="parTrans" cxnId="{A3A2D74F-CE40-4902-817B-7D0B4D5C7E7A}">
      <dgm:prSet/>
      <dgm:spPr/>
      <dgm:t>
        <a:bodyPr/>
        <a:lstStyle/>
        <a:p>
          <a:endParaRPr lang="en-US"/>
        </a:p>
      </dgm:t>
    </dgm:pt>
    <dgm:pt modelId="{35052D1F-D9D4-47C2-BEC9-8D252EB33242}" type="sibTrans" cxnId="{A3A2D74F-CE40-4902-817B-7D0B4D5C7E7A}">
      <dgm:prSet/>
      <dgm:spPr/>
      <dgm:t>
        <a:bodyPr/>
        <a:lstStyle/>
        <a:p>
          <a:endParaRPr lang="en-US"/>
        </a:p>
      </dgm:t>
    </dgm:pt>
    <dgm:pt modelId="{B3D0618B-01FB-4DC1-AEEC-041D0BD11BB2}">
      <dgm:prSet phldrT="[Text]"/>
      <dgm:spPr>
        <a:solidFill>
          <a:schemeClr val="bg1"/>
        </a:solidFill>
        <a:ln>
          <a:solidFill>
            <a:srgbClr val="C543B2"/>
          </a:solidFill>
        </a:ln>
      </dgm:spPr>
      <dgm:t>
        <a:bodyPr/>
        <a:lstStyle/>
        <a:p>
          <a:r>
            <a:rPr lang="en-US" dirty="0"/>
            <a:t>Funding </a:t>
          </a:r>
        </a:p>
      </dgm:t>
    </dgm:pt>
    <dgm:pt modelId="{6069A602-EDFA-4EFD-AEF7-E66231BF1177}" type="parTrans" cxnId="{249E3654-4CF0-4AB9-82B5-AFA8714E1585}">
      <dgm:prSet/>
      <dgm:spPr/>
      <dgm:t>
        <a:bodyPr/>
        <a:lstStyle/>
        <a:p>
          <a:endParaRPr lang="en-US"/>
        </a:p>
      </dgm:t>
    </dgm:pt>
    <dgm:pt modelId="{744328E1-7727-4699-954A-5FEA07227636}" type="sibTrans" cxnId="{249E3654-4CF0-4AB9-82B5-AFA8714E1585}">
      <dgm:prSet/>
      <dgm:spPr/>
      <dgm:t>
        <a:bodyPr/>
        <a:lstStyle/>
        <a:p>
          <a:endParaRPr lang="en-US"/>
        </a:p>
      </dgm:t>
    </dgm:pt>
    <dgm:pt modelId="{4DABAB2F-C42A-4B85-9DCD-CEAB88662EF6}">
      <dgm:prSet phldrT="[Text]"/>
      <dgm:spPr/>
      <dgm:t>
        <a:bodyPr/>
        <a:lstStyle/>
        <a:p>
          <a:r>
            <a:rPr lang="en-US" dirty="0"/>
            <a:t>Credit ops </a:t>
          </a:r>
        </a:p>
      </dgm:t>
    </dgm:pt>
    <dgm:pt modelId="{C1B21ED9-C7C9-4E74-80FD-16D4917CE921}" type="parTrans" cxnId="{255CA55E-6F4E-4DAE-A9D0-194F35E0991C}">
      <dgm:prSet/>
      <dgm:spPr/>
      <dgm:t>
        <a:bodyPr/>
        <a:lstStyle/>
        <a:p>
          <a:endParaRPr lang="en-US"/>
        </a:p>
      </dgm:t>
    </dgm:pt>
    <dgm:pt modelId="{D43C8DF8-2BA6-4A51-8152-1604AB14B50D}" type="sibTrans" cxnId="{255CA55E-6F4E-4DAE-A9D0-194F35E0991C}">
      <dgm:prSet/>
      <dgm:spPr/>
      <dgm:t>
        <a:bodyPr/>
        <a:lstStyle/>
        <a:p>
          <a:endParaRPr lang="en-US"/>
        </a:p>
      </dgm:t>
    </dgm:pt>
    <dgm:pt modelId="{10BAFFD0-8433-420D-997E-C6CAF8C34191}">
      <dgm:prSet phldrT="[Text]"/>
      <dgm:spPr/>
      <dgm:t>
        <a:bodyPr/>
        <a:lstStyle/>
        <a:p>
          <a:r>
            <a:rPr lang="en-US" dirty="0"/>
            <a:t>RCSC</a:t>
          </a:r>
        </a:p>
      </dgm:t>
    </dgm:pt>
    <dgm:pt modelId="{8DE1EF59-D8D0-41E0-9148-9F7CBD6C3ED8}" type="parTrans" cxnId="{4B1F18C9-530E-4E89-A48D-05BC86D67C64}">
      <dgm:prSet/>
      <dgm:spPr/>
      <dgm:t>
        <a:bodyPr/>
        <a:lstStyle/>
        <a:p>
          <a:endParaRPr lang="en-US"/>
        </a:p>
      </dgm:t>
    </dgm:pt>
    <dgm:pt modelId="{11E4E824-7BD9-4192-944B-6742F30F5EAC}" type="sibTrans" cxnId="{4B1F18C9-530E-4E89-A48D-05BC86D67C64}">
      <dgm:prSet/>
      <dgm:spPr/>
      <dgm:t>
        <a:bodyPr/>
        <a:lstStyle/>
        <a:p>
          <a:endParaRPr lang="en-US"/>
        </a:p>
      </dgm:t>
    </dgm:pt>
    <dgm:pt modelId="{1BF72BE6-5DD3-4DCE-B39E-51E0F5BC3974}" type="pres">
      <dgm:prSet presAssocID="{590A0140-1A58-4739-BC53-4CCBB246E450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9911210-7AFF-47C4-9061-A1A85546CEBC}" type="pres">
      <dgm:prSet presAssocID="{51612B3E-FA26-42A0-AFC8-9760E7535641}" presName="circle1" presStyleLbl="node1" presStyleIdx="0" presStyleCnt="5"/>
      <dgm:spPr/>
    </dgm:pt>
    <dgm:pt modelId="{94A592F0-421B-47C0-A386-A55B4A7DFED5}" type="pres">
      <dgm:prSet presAssocID="{51612B3E-FA26-42A0-AFC8-9760E7535641}" presName="space" presStyleCnt="0"/>
      <dgm:spPr/>
    </dgm:pt>
    <dgm:pt modelId="{CFEFFC99-EAA2-4805-B0CC-2166FF44FFBF}" type="pres">
      <dgm:prSet presAssocID="{51612B3E-FA26-42A0-AFC8-9760E7535641}" presName="rect1" presStyleLbl="alignAcc1" presStyleIdx="0" presStyleCnt="5"/>
      <dgm:spPr/>
      <dgm:t>
        <a:bodyPr/>
        <a:lstStyle/>
        <a:p>
          <a:endParaRPr lang="en-US"/>
        </a:p>
      </dgm:t>
    </dgm:pt>
    <dgm:pt modelId="{5B489784-6E66-487D-8491-EABDA80B6A1A}" type="pres">
      <dgm:prSet presAssocID="{12E8302E-88B6-408C-9099-070F0FC729FE}" presName="vertSpace2" presStyleLbl="node1" presStyleIdx="0" presStyleCnt="5"/>
      <dgm:spPr/>
    </dgm:pt>
    <dgm:pt modelId="{785A4394-8770-4793-8302-5C07D0C56063}" type="pres">
      <dgm:prSet presAssocID="{12E8302E-88B6-408C-9099-070F0FC729FE}" presName="circle2" presStyleLbl="node1" presStyleIdx="1" presStyleCnt="5"/>
      <dgm:spPr/>
    </dgm:pt>
    <dgm:pt modelId="{08791AC9-DB80-450B-A5FF-0A6876CEE808}" type="pres">
      <dgm:prSet presAssocID="{12E8302E-88B6-408C-9099-070F0FC729FE}" presName="rect2" presStyleLbl="alignAcc1" presStyleIdx="1" presStyleCnt="5"/>
      <dgm:spPr/>
      <dgm:t>
        <a:bodyPr/>
        <a:lstStyle/>
        <a:p>
          <a:endParaRPr lang="en-US"/>
        </a:p>
      </dgm:t>
    </dgm:pt>
    <dgm:pt modelId="{07EDF193-97E1-4F7C-B77A-F5A1F9699878}" type="pres">
      <dgm:prSet presAssocID="{C069A53D-4B5D-4623-B7CB-2C58F4126F35}" presName="vertSpace3" presStyleLbl="node1" presStyleIdx="1" presStyleCnt="5"/>
      <dgm:spPr/>
    </dgm:pt>
    <dgm:pt modelId="{604AB983-0F31-4FB4-82B6-44558C78F6F0}" type="pres">
      <dgm:prSet presAssocID="{C069A53D-4B5D-4623-B7CB-2C58F4126F35}" presName="circle3" presStyleLbl="node1" presStyleIdx="2" presStyleCnt="5"/>
      <dgm:spPr/>
    </dgm:pt>
    <dgm:pt modelId="{77EA5C5A-C6EE-4734-9393-2BCF629566F5}" type="pres">
      <dgm:prSet presAssocID="{C069A53D-4B5D-4623-B7CB-2C58F4126F35}" presName="rect3" presStyleLbl="alignAcc1" presStyleIdx="2" presStyleCnt="5"/>
      <dgm:spPr/>
      <dgm:t>
        <a:bodyPr/>
        <a:lstStyle/>
        <a:p>
          <a:endParaRPr lang="en-US"/>
        </a:p>
      </dgm:t>
    </dgm:pt>
    <dgm:pt modelId="{54905586-9F5D-4869-8590-A6138D490CF9}" type="pres">
      <dgm:prSet presAssocID="{A8527190-B207-454F-A79D-D59C81474F95}" presName="vertSpace4" presStyleLbl="node1" presStyleIdx="2" presStyleCnt="5"/>
      <dgm:spPr/>
    </dgm:pt>
    <dgm:pt modelId="{91800FEA-1E55-4901-9635-16BDBF2746DC}" type="pres">
      <dgm:prSet presAssocID="{A8527190-B207-454F-A79D-D59C81474F95}" presName="circle4" presStyleLbl="node1" presStyleIdx="3" presStyleCnt="5"/>
      <dgm:spPr/>
    </dgm:pt>
    <dgm:pt modelId="{CCA1F250-E0EC-49D3-8F3C-D53EA27DA296}" type="pres">
      <dgm:prSet presAssocID="{A8527190-B207-454F-A79D-D59C81474F95}" presName="rect4" presStyleLbl="alignAcc1" presStyleIdx="3" presStyleCnt="5"/>
      <dgm:spPr/>
      <dgm:t>
        <a:bodyPr/>
        <a:lstStyle/>
        <a:p>
          <a:endParaRPr lang="en-US"/>
        </a:p>
      </dgm:t>
    </dgm:pt>
    <dgm:pt modelId="{EB29C1A8-A542-4C86-8513-8781A7818028}" type="pres">
      <dgm:prSet presAssocID="{B3D0618B-01FB-4DC1-AEEC-041D0BD11BB2}" presName="vertSpace5" presStyleLbl="node1" presStyleIdx="3" presStyleCnt="5"/>
      <dgm:spPr/>
    </dgm:pt>
    <dgm:pt modelId="{69B6F0B0-AEB3-480D-B8F4-72AC1BED5FC2}" type="pres">
      <dgm:prSet presAssocID="{B3D0618B-01FB-4DC1-AEEC-041D0BD11BB2}" presName="circle5" presStyleLbl="node1" presStyleIdx="4" presStyleCnt="5"/>
      <dgm:spPr>
        <a:solidFill>
          <a:srgbClr val="C543B2"/>
        </a:solidFill>
        <a:ln>
          <a:solidFill>
            <a:srgbClr val="C543B2"/>
          </a:solidFill>
        </a:ln>
      </dgm:spPr>
    </dgm:pt>
    <dgm:pt modelId="{AFF5D579-AF05-43C0-BA35-9E08C9F06BEE}" type="pres">
      <dgm:prSet presAssocID="{B3D0618B-01FB-4DC1-AEEC-041D0BD11BB2}" presName="rect5" presStyleLbl="alignAcc1" presStyleIdx="4" presStyleCnt="5"/>
      <dgm:spPr/>
      <dgm:t>
        <a:bodyPr/>
        <a:lstStyle/>
        <a:p>
          <a:endParaRPr lang="en-US"/>
        </a:p>
      </dgm:t>
    </dgm:pt>
    <dgm:pt modelId="{58D397B9-EF6A-47AC-97B7-EBDCC3F5FF97}" type="pres">
      <dgm:prSet presAssocID="{51612B3E-FA26-42A0-AFC8-9760E7535641}" presName="rect1ParTx" presStyleLbl="alignAcc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AA5104-996E-47D8-813A-AA513FEDE4C5}" type="pres">
      <dgm:prSet presAssocID="{51612B3E-FA26-42A0-AFC8-9760E7535641}" presName="rect1ChTx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330AA4-15E0-409C-9523-3B154AE427EE}" type="pres">
      <dgm:prSet presAssocID="{12E8302E-88B6-408C-9099-070F0FC729FE}" presName="rect2ParTx" presStyleLbl="alignAcc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00FDEA-C4D5-4BF8-8D3F-CBD04361C2B1}" type="pres">
      <dgm:prSet presAssocID="{12E8302E-88B6-408C-9099-070F0FC729FE}" presName="rect2ChTx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66FA2E-1374-4E39-BC52-73F9E574EAB2}" type="pres">
      <dgm:prSet presAssocID="{C069A53D-4B5D-4623-B7CB-2C58F4126F35}" presName="rect3ParTx" presStyleLbl="alignAcc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7D8D81-16F4-4C43-BE40-4852E2ADFAF6}" type="pres">
      <dgm:prSet presAssocID="{C069A53D-4B5D-4623-B7CB-2C58F4126F35}" presName="rect3ChTx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CA36A2-CE98-496F-B63F-85D765A5BEE8}" type="pres">
      <dgm:prSet presAssocID="{A8527190-B207-454F-A79D-D59C81474F95}" presName="rect4ParTx" presStyleLbl="alignAcc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7E2217-0768-4902-9852-12BE0E89A15F}" type="pres">
      <dgm:prSet presAssocID="{A8527190-B207-454F-A79D-D59C81474F95}" presName="rect4ChTx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93AB29-9FF0-4C4E-8F42-4D3561D9087E}" type="pres">
      <dgm:prSet presAssocID="{B3D0618B-01FB-4DC1-AEEC-041D0BD11BB2}" presName="rect5ParTx" presStyleLbl="alignAcc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D3CACF-E5B9-4C9A-959E-C184E531DEC9}" type="pres">
      <dgm:prSet presAssocID="{B3D0618B-01FB-4DC1-AEEC-041D0BD11BB2}" presName="rect5ChTx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42F8E45-69D3-4F83-A68F-3C0A72C71777}" type="presOf" srcId="{B3D0618B-01FB-4DC1-AEEC-041D0BD11BB2}" destId="{AFF5D579-AF05-43C0-BA35-9E08C9F06BEE}" srcOrd="0" destOrd="0" presId="urn:microsoft.com/office/officeart/2005/8/layout/target3"/>
    <dgm:cxn modelId="{D7D1CDAD-99DE-4CED-97A3-E2438CF2B192}" type="presOf" srcId="{D9672B0C-9703-4528-9507-0B0380FFBEB7}" destId="{877E2217-0768-4902-9852-12BE0E89A15F}" srcOrd="0" destOrd="0" presId="urn:microsoft.com/office/officeart/2005/8/layout/target3"/>
    <dgm:cxn modelId="{41B321AC-62A9-45CA-8EA5-7BDD374BD192}" type="presOf" srcId="{590A0140-1A58-4739-BC53-4CCBB246E450}" destId="{1BF72BE6-5DD3-4DCE-B39E-51E0F5BC3974}" srcOrd="0" destOrd="0" presId="urn:microsoft.com/office/officeart/2005/8/layout/target3"/>
    <dgm:cxn modelId="{478DEAAC-4D24-489E-86BA-BC51232FC807}" type="presOf" srcId="{1F501330-BE04-4C9B-BCD7-E44D91C4E847}" destId="{E47D8D81-16F4-4C43-BE40-4852E2ADFAF6}" srcOrd="0" destOrd="0" presId="urn:microsoft.com/office/officeart/2005/8/layout/target3"/>
    <dgm:cxn modelId="{39C0F89F-1F56-4AA2-A218-5E5384E00E33}" type="presOf" srcId="{9A1E907E-567C-46E9-994C-D4EEE79F5ECA}" destId="{11AA5104-996E-47D8-813A-AA513FEDE4C5}" srcOrd="0" destOrd="1" presId="urn:microsoft.com/office/officeart/2005/8/layout/target3"/>
    <dgm:cxn modelId="{0EB91056-9DCF-4634-A2C7-68094C5C65DC}" srcId="{590A0140-1A58-4739-BC53-4CCBB246E450}" destId="{51612B3E-FA26-42A0-AFC8-9760E7535641}" srcOrd="0" destOrd="0" parTransId="{9058A63D-ECDE-4BDC-B645-C684FAD81541}" sibTransId="{14C46844-EBF3-4FE7-8600-F98A2E242FF0}"/>
    <dgm:cxn modelId="{7DB0509D-E5C9-4CB5-8F20-DB8778891741}" type="presOf" srcId="{51612B3E-FA26-42A0-AFC8-9760E7535641}" destId="{58D397B9-EF6A-47AC-97B7-EBDCC3F5FF97}" srcOrd="1" destOrd="0" presId="urn:microsoft.com/office/officeart/2005/8/layout/target3"/>
    <dgm:cxn modelId="{6DA8A59A-DF35-44A8-9219-21BBE7D6E303}" srcId="{590A0140-1A58-4739-BC53-4CCBB246E450}" destId="{A8527190-B207-454F-A79D-D59C81474F95}" srcOrd="3" destOrd="0" parTransId="{F090CA7F-CFD3-48C9-AD20-1FCACA55B5CB}" sibTransId="{E91767FE-7126-4D6E-B494-0F440B667147}"/>
    <dgm:cxn modelId="{67B38E73-FEBB-4B9A-A9AF-ED910CFABA3C}" srcId="{590A0140-1A58-4739-BC53-4CCBB246E450}" destId="{C069A53D-4B5D-4623-B7CB-2C58F4126F35}" srcOrd="2" destOrd="0" parTransId="{10AA3146-FE21-4ADC-8A22-D86C85AE8F3B}" sibTransId="{A703E19F-2AAE-410C-BF67-191CA7FDBB40}"/>
    <dgm:cxn modelId="{46AF9189-57A6-40DF-BE29-BF493295D59E}" type="presOf" srcId="{C069A53D-4B5D-4623-B7CB-2C58F4126F35}" destId="{6466FA2E-1374-4E39-BC52-73F9E574EAB2}" srcOrd="1" destOrd="0" presId="urn:microsoft.com/office/officeart/2005/8/layout/target3"/>
    <dgm:cxn modelId="{A3A2D74F-CE40-4902-817B-7D0B4D5C7E7A}" srcId="{A8527190-B207-454F-A79D-D59C81474F95}" destId="{D9672B0C-9703-4528-9507-0B0380FFBEB7}" srcOrd="0" destOrd="0" parTransId="{35153790-493E-45E9-AB0D-104F44BE71E1}" sibTransId="{35052D1F-D9D4-47C2-BEC9-8D252EB33242}"/>
    <dgm:cxn modelId="{255CA55E-6F4E-4DAE-A9D0-194F35E0991C}" srcId="{B3D0618B-01FB-4DC1-AEEC-041D0BD11BB2}" destId="{4DABAB2F-C42A-4B85-9DCD-CEAB88662EF6}" srcOrd="0" destOrd="0" parTransId="{C1B21ED9-C7C9-4E74-80FD-16D4917CE921}" sibTransId="{D43C8DF8-2BA6-4A51-8152-1604AB14B50D}"/>
    <dgm:cxn modelId="{5FFE0310-D7BE-43B7-8191-0C29E8C55E6A}" type="presOf" srcId="{6ADB7E38-7B49-4A7B-BEE5-7F1A8540A291}" destId="{E900FDEA-C4D5-4BF8-8D3F-CBD04361C2B1}" srcOrd="0" destOrd="1" presId="urn:microsoft.com/office/officeart/2005/8/layout/target3"/>
    <dgm:cxn modelId="{F3A4EB75-C482-4079-A56B-F30F5B0C94E4}" srcId="{51612B3E-FA26-42A0-AFC8-9760E7535641}" destId="{0FCFD8C6-B7AC-428E-AA43-46727617EE6A}" srcOrd="0" destOrd="0" parTransId="{6A5241A6-ED47-4C07-99D8-39EAD022F519}" sibTransId="{0D1807F6-D1E6-434E-B092-3D14FC5FA8BC}"/>
    <dgm:cxn modelId="{C7D4A736-529C-4AB6-864A-7994134FB0A6}" type="presOf" srcId="{A8527190-B207-454F-A79D-D59C81474F95}" destId="{4ACA36A2-CE98-496F-B63F-85D765A5BEE8}" srcOrd="1" destOrd="0" presId="urn:microsoft.com/office/officeart/2005/8/layout/target3"/>
    <dgm:cxn modelId="{BB5DCC0F-7501-4AAD-9264-DC241DEC33DC}" srcId="{12E8302E-88B6-408C-9099-070F0FC729FE}" destId="{6ADB7E38-7B49-4A7B-BEE5-7F1A8540A291}" srcOrd="1" destOrd="0" parTransId="{A4DF2AE1-2454-4A11-BEFC-00EAAE3645F2}" sibTransId="{9405FC1A-3A64-4E2B-9013-81F6A27EC263}"/>
    <dgm:cxn modelId="{395DDF87-8C5B-4B3A-B695-3B4BE747B16D}" srcId="{C069A53D-4B5D-4623-B7CB-2C58F4126F35}" destId="{1F501330-BE04-4C9B-BCD7-E44D91C4E847}" srcOrd="0" destOrd="0" parTransId="{F2D313D2-02ED-4DF5-A6C4-CE58C8DFAA8A}" sibTransId="{6652957B-2132-4A55-8EC7-3E349BE4193A}"/>
    <dgm:cxn modelId="{3E6C149C-F788-4B6F-BC21-900947857D91}" type="presOf" srcId="{51612B3E-FA26-42A0-AFC8-9760E7535641}" destId="{CFEFFC99-EAA2-4805-B0CC-2166FF44FFBF}" srcOrd="0" destOrd="0" presId="urn:microsoft.com/office/officeart/2005/8/layout/target3"/>
    <dgm:cxn modelId="{A71532D8-02E5-4BA6-8DFE-8F33471162DD}" srcId="{12E8302E-88B6-408C-9099-070F0FC729FE}" destId="{53E509EF-CBFD-48A9-B767-2AA54F6B4AD3}" srcOrd="0" destOrd="0" parTransId="{B1DFA446-B8B3-4BD8-94A6-9CFDD8D06E54}" sibTransId="{1F84AE45-80AD-4087-AADF-776BDD884505}"/>
    <dgm:cxn modelId="{4ABD6121-79BB-493B-A936-0EE72A6FBA5A}" type="presOf" srcId="{4DABAB2F-C42A-4B85-9DCD-CEAB88662EF6}" destId="{8FD3CACF-E5B9-4C9A-959E-C184E531DEC9}" srcOrd="0" destOrd="0" presId="urn:microsoft.com/office/officeart/2005/8/layout/target3"/>
    <dgm:cxn modelId="{6BA96C31-0908-44F5-BCFF-C7226A05D74C}" srcId="{590A0140-1A58-4739-BC53-4CCBB246E450}" destId="{12E8302E-88B6-408C-9099-070F0FC729FE}" srcOrd="1" destOrd="0" parTransId="{049457F3-2F34-4438-85C2-B04E69E6BF2C}" sibTransId="{80CB432F-8960-484D-AE03-1E882D9F1E78}"/>
    <dgm:cxn modelId="{74CCC9B4-D94D-4D19-9A83-C5785C791437}" type="presOf" srcId="{A54048E4-00CE-4370-A840-0AC455E6BBA6}" destId="{E47D8D81-16F4-4C43-BE40-4852E2ADFAF6}" srcOrd="0" destOrd="1" presId="urn:microsoft.com/office/officeart/2005/8/layout/target3"/>
    <dgm:cxn modelId="{4FD2A942-87E1-4D37-9964-AC284D68B8CD}" type="presOf" srcId="{10BAFFD0-8433-420D-997E-C6CAF8C34191}" destId="{8FD3CACF-E5B9-4C9A-959E-C184E531DEC9}" srcOrd="0" destOrd="1" presId="urn:microsoft.com/office/officeart/2005/8/layout/target3"/>
    <dgm:cxn modelId="{B3AAB14F-AD91-4847-B9D0-6696992395E6}" type="presOf" srcId="{53E509EF-CBFD-48A9-B767-2AA54F6B4AD3}" destId="{E900FDEA-C4D5-4BF8-8D3F-CBD04361C2B1}" srcOrd="0" destOrd="0" presId="urn:microsoft.com/office/officeart/2005/8/layout/target3"/>
    <dgm:cxn modelId="{CCF83B3D-BD7C-4638-9F71-4057B7ACA721}" type="presOf" srcId="{A8527190-B207-454F-A79D-D59C81474F95}" destId="{CCA1F250-E0EC-49D3-8F3C-D53EA27DA296}" srcOrd="0" destOrd="0" presId="urn:microsoft.com/office/officeart/2005/8/layout/target3"/>
    <dgm:cxn modelId="{A60383BC-BA97-45E5-87E7-A1DBCCAA0D01}" type="presOf" srcId="{0FCFD8C6-B7AC-428E-AA43-46727617EE6A}" destId="{11AA5104-996E-47D8-813A-AA513FEDE4C5}" srcOrd="0" destOrd="0" presId="urn:microsoft.com/office/officeart/2005/8/layout/target3"/>
    <dgm:cxn modelId="{26BE6AF5-A6E1-48D7-887D-F62CF46481B2}" srcId="{51612B3E-FA26-42A0-AFC8-9760E7535641}" destId="{9A1E907E-567C-46E9-994C-D4EEE79F5ECA}" srcOrd="1" destOrd="0" parTransId="{1C1C6CA1-54DC-446B-9F16-761644D5E061}" sibTransId="{EDC2197A-00AD-44F4-A908-4C6C95E3C6AF}"/>
    <dgm:cxn modelId="{D5F3C8A9-909B-4543-B3EC-664E5607BE4B}" type="presOf" srcId="{C069A53D-4B5D-4623-B7CB-2C58F4126F35}" destId="{77EA5C5A-C6EE-4734-9393-2BCF629566F5}" srcOrd="0" destOrd="0" presId="urn:microsoft.com/office/officeart/2005/8/layout/target3"/>
    <dgm:cxn modelId="{59FFF1A7-16A0-4A1D-898E-CD7DEFC95E22}" type="presOf" srcId="{12E8302E-88B6-408C-9099-070F0FC729FE}" destId="{CB330AA4-15E0-409C-9523-3B154AE427EE}" srcOrd="1" destOrd="0" presId="urn:microsoft.com/office/officeart/2005/8/layout/target3"/>
    <dgm:cxn modelId="{48B0DCEC-D619-4003-A868-E33F7E1E20D4}" type="presOf" srcId="{12E8302E-88B6-408C-9099-070F0FC729FE}" destId="{08791AC9-DB80-450B-A5FF-0A6876CEE808}" srcOrd="0" destOrd="0" presId="urn:microsoft.com/office/officeart/2005/8/layout/target3"/>
    <dgm:cxn modelId="{F2802DB5-5471-4AE3-B093-8AE59CF918BC}" type="presOf" srcId="{B3D0618B-01FB-4DC1-AEEC-041D0BD11BB2}" destId="{B293AB29-9FF0-4C4E-8F42-4D3561D9087E}" srcOrd="1" destOrd="0" presId="urn:microsoft.com/office/officeart/2005/8/layout/target3"/>
    <dgm:cxn modelId="{4B1F18C9-530E-4E89-A48D-05BC86D67C64}" srcId="{B3D0618B-01FB-4DC1-AEEC-041D0BD11BB2}" destId="{10BAFFD0-8433-420D-997E-C6CAF8C34191}" srcOrd="1" destOrd="0" parTransId="{8DE1EF59-D8D0-41E0-9148-9F7CBD6C3ED8}" sibTransId="{11E4E824-7BD9-4192-944B-6742F30F5EAC}"/>
    <dgm:cxn modelId="{249E3654-4CF0-4AB9-82B5-AFA8714E1585}" srcId="{590A0140-1A58-4739-BC53-4CCBB246E450}" destId="{B3D0618B-01FB-4DC1-AEEC-041D0BD11BB2}" srcOrd="4" destOrd="0" parTransId="{6069A602-EDFA-4EFD-AEF7-E66231BF1177}" sibTransId="{744328E1-7727-4699-954A-5FEA07227636}"/>
    <dgm:cxn modelId="{D98A6226-4C3B-4E68-AB0B-3817A4E84150}" srcId="{C069A53D-4B5D-4623-B7CB-2C58F4126F35}" destId="{A54048E4-00CE-4370-A840-0AC455E6BBA6}" srcOrd="1" destOrd="0" parTransId="{CF8F715B-8EF7-4528-9CEC-324A95E2F2D5}" sibTransId="{36D25233-EF01-4DA1-A664-C1765BE2ECF7}"/>
    <dgm:cxn modelId="{759D624F-51F5-4052-989E-7BC1C5AD62CD}" type="presParOf" srcId="{1BF72BE6-5DD3-4DCE-B39E-51E0F5BC3974}" destId="{D9911210-7AFF-47C4-9061-A1A85546CEBC}" srcOrd="0" destOrd="0" presId="urn:microsoft.com/office/officeart/2005/8/layout/target3"/>
    <dgm:cxn modelId="{7DF49D9F-371A-403E-A01F-DA00CD7983DF}" type="presParOf" srcId="{1BF72BE6-5DD3-4DCE-B39E-51E0F5BC3974}" destId="{94A592F0-421B-47C0-A386-A55B4A7DFED5}" srcOrd="1" destOrd="0" presId="urn:microsoft.com/office/officeart/2005/8/layout/target3"/>
    <dgm:cxn modelId="{115F77C4-789A-479E-A3BA-C692A5131AB7}" type="presParOf" srcId="{1BF72BE6-5DD3-4DCE-B39E-51E0F5BC3974}" destId="{CFEFFC99-EAA2-4805-B0CC-2166FF44FFBF}" srcOrd="2" destOrd="0" presId="urn:microsoft.com/office/officeart/2005/8/layout/target3"/>
    <dgm:cxn modelId="{CA6A2AEB-3120-42BD-BF0F-C27F5EE10076}" type="presParOf" srcId="{1BF72BE6-5DD3-4DCE-B39E-51E0F5BC3974}" destId="{5B489784-6E66-487D-8491-EABDA80B6A1A}" srcOrd="3" destOrd="0" presId="urn:microsoft.com/office/officeart/2005/8/layout/target3"/>
    <dgm:cxn modelId="{D74769E6-D459-40F6-A76B-F87CA574EB70}" type="presParOf" srcId="{1BF72BE6-5DD3-4DCE-B39E-51E0F5BC3974}" destId="{785A4394-8770-4793-8302-5C07D0C56063}" srcOrd="4" destOrd="0" presId="urn:microsoft.com/office/officeart/2005/8/layout/target3"/>
    <dgm:cxn modelId="{03A742B7-BBE4-4A38-A4B9-ACC7FF8EEB65}" type="presParOf" srcId="{1BF72BE6-5DD3-4DCE-B39E-51E0F5BC3974}" destId="{08791AC9-DB80-450B-A5FF-0A6876CEE808}" srcOrd="5" destOrd="0" presId="urn:microsoft.com/office/officeart/2005/8/layout/target3"/>
    <dgm:cxn modelId="{DFF32979-31F6-4534-94A1-4C67C59FEB78}" type="presParOf" srcId="{1BF72BE6-5DD3-4DCE-B39E-51E0F5BC3974}" destId="{07EDF193-97E1-4F7C-B77A-F5A1F9699878}" srcOrd="6" destOrd="0" presId="urn:microsoft.com/office/officeart/2005/8/layout/target3"/>
    <dgm:cxn modelId="{E38D4AFC-D394-4849-BC46-1B7E89CFF2C4}" type="presParOf" srcId="{1BF72BE6-5DD3-4DCE-B39E-51E0F5BC3974}" destId="{604AB983-0F31-4FB4-82B6-44558C78F6F0}" srcOrd="7" destOrd="0" presId="urn:microsoft.com/office/officeart/2005/8/layout/target3"/>
    <dgm:cxn modelId="{06A7D811-88C0-4EDF-BFDC-B2FE1A148DEE}" type="presParOf" srcId="{1BF72BE6-5DD3-4DCE-B39E-51E0F5BC3974}" destId="{77EA5C5A-C6EE-4734-9393-2BCF629566F5}" srcOrd="8" destOrd="0" presId="urn:microsoft.com/office/officeart/2005/8/layout/target3"/>
    <dgm:cxn modelId="{A0C0759C-CC17-419F-8325-928D2C0C93E5}" type="presParOf" srcId="{1BF72BE6-5DD3-4DCE-B39E-51E0F5BC3974}" destId="{54905586-9F5D-4869-8590-A6138D490CF9}" srcOrd="9" destOrd="0" presId="urn:microsoft.com/office/officeart/2005/8/layout/target3"/>
    <dgm:cxn modelId="{026D53E2-B1C2-4ECB-997B-F47ACB488D88}" type="presParOf" srcId="{1BF72BE6-5DD3-4DCE-B39E-51E0F5BC3974}" destId="{91800FEA-1E55-4901-9635-16BDBF2746DC}" srcOrd="10" destOrd="0" presId="urn:microsoft.com/office/officeart/2005/8/layout/target3"/>
    <dgm:cxn modelId="{7CE36289-A25C-4899-8ED0-B53A2CE037B9}" type="presParOf" srcId="{1BF72BE6-5DD3-4DCE-B39E-51E0F5BC3974}" destId="{CCA1F250-E0EC-49D3-8F3C-D53EA27DA296}" srcOrd="11" destOrd="0" presId="urn:microsoft.com/office/officeart/2005/8/layout/target3"/>
    <dgm:cxn modelId="{CD4408E7-EEC8-47C5-A4E3-9EADC9ACAB70}" type="presParOf" srcId="{1BF72BE6-5DD3-4DCE-B39E-51E0F5BC3974}" destId="{EB29C1A8-A542-4C86-8513-8781A7818028}" srcOrd="12" destOrd="0" presId="urn:microsoft.com/office/officeart/2005/8/layout/target3"/>
    <dgm:cxn modelId="{A8894BE2-ED9B-4A20-A8B4-E7A9B4FF7EB2}" type="presParOf" srcId="{1BF72BE6-5DD3-4DCE-B39E-51E0F5BC3974}" destId="{69B6F0B0-AEB3-480D-B8F4-72AC1BED5FC2}" srcOrd="13" destOrd="0" presId="urn:microsoft.com/office/officeart/2005/8/layout/target3"/>
    <dgm:cxn modelId="{EEF83256-0841-4DB4-B220-9BEE877DC8A5}" type="presParOf" srcId="{1BF72BE6-5DD3-4DCE-B39E-51E0F5BC3974}" destId="{AFF5D579-AF05-43C0-BA35-9E08C9F06BEE}" srcOrd="14" destOrd="0" presId="urn:microsoft.com/office/officeart/2005/8/layout/target3"/>
    <dgm:cxn modelId="{72E09134-47B1-4D6F-BF21-FEDC92440174}" type="presParOf" srcId="{1BF72BE6-5DD3-4DCE-B39E-51E0F5BC3974}" destId="{58D397B9-EF6A-47AC-97B7-EBDCC3F5FF97}" srcOrd="15" destOrd="0" presId="urn:microsoft.com/office/officeart/2005/8/layout/target3"/>
    <dgm:cxn modelId="{DD62C309-4100-4CF9-B5D6-507927E3FBBD}" type="presParOf" srcId="{1BF72BE6-5DD3-4DCE-B39E-51E0F5BC3974}" destId="{11AA5104-996E-47D8-813A-AA513FEDE4C5}" srcOrd="16" destOrd="0" presId="urn:microsoft.com/office/officeart/2005/8/layout/target3"/>
    <dgm:cxn modelId="{A48BEB93-1EE8-4175-8305-775DA617EE35}" type="presParOf" srcId="{1BF72BE6-5DD3-4DCE-B39E-51E0F5BC3974}" destId="{CB330AA4-15E0-409C-9523-3B154AE427EE}" srcOrd="17" destOrd="0" presId="urn:microsoft.com/office/officeart/2005/8/layout/target3"/>
    <dgm:cxn modelId="{48D71624-DD8E-47E1-9134-0E31FD0C0FF2}" type="presParOf" srcId="{1BF72BE6-5DD3-4DCE-B39E-51E0F5BC3974}" destId="{E900FDEA-C4D5-4BF8-8D3F-CBD04361C2B1}" srcOrd="18" destOrd="0" presId="urn:microsoft.com/office/officeart/2005/8/layout/target3"/>
    <dgm:cxn modelId="{F70713A3-B6D3-449E-A114-90EA87B17E96}" type="presParOf" srcId="{1BF72BE6-5DD3-4DCE-B39E-51E0F5BC3974}" destId="{6466FA2E-1374-4E39-BC52-73F9E574EAB2}" srcOrd="19" destOrd="0" presId="urn:microsoft.com/office/officeart/2005/8/layout/target3"/>
    <dgm:cxn modelId="{663C4F43-6CE1-4F9E-B7CE-7448502F48E6}" type="presParOf" srcId="{1BF72BE6-5DD3-4DCE-B39E-51E0F5BC3974}" destId="{E47D8D81-16F4-4C43-BE40-4852E2ADFAF6}" srcOrd="20" destOrd="0" presId="urn:microsoft.com/office/officeart/2005/8/layout/target3"/>
    <dgm:cxn modelId="{CA88A858-01EB-4AF2-B079-E67C2D724263}" type="presParOf" srcId="{1BF72BE6-5DD3-4DCE-B39E-51E0F5BC3974}" destId="{4ACA36A2-CE98-496F-B63F-85D765A5BEE8}" srcOrd="21" destOrd="0" presId="urn:microsoft.com/office/officeart/2005/8/layout/target3"/>
    <dgm:cxn modelId="{B457085B-4647-494D-8179-6713C88B1AB2}" type="presParOf" srcId="{1BF72BE6-5DD3-4DCE-B39E-51E0F5BC3974}" destId="{877E2217-0768-4902-9852-12BE0E89A15F}" srcOrd="22" destOrd="0" presId="urn:microsoft.com/office/officeart/2005/8/layout/target3"/>
    <dgm:cxn modelId="{AA756941-6928-4587-B3F8-DBB688C923A4}" type="presParOf" srcId="{1BF72BE6-5DD3-4DCE-B39E-51E0F5BC3974}" destId="{B293AB29-9FF0-4C4E-8F42-4D3561D9087E}" srcOrd="23" destOrd="0" presId="urn:microsoft.com/office/officeart/2005/8/layout/target3"/>
    <dgm:cxn modelId="{42B367B0-1ECA-4F70-9170-6B7E71829866}" type="presParOf" srcId="{1BF72BE6-5DD3-4DCE-B39E-51E0F5BC3974}" destId="{8FD3CACF-E5B9-4C9A-959E-C184E531DEC9}" srcOrd="24" destOrd="0" presId="urn:microsoft.com/office/officeart/2005/8/layout/target3"/>
  </dgm:cxnLst>
  <dgm:bg/>
  <dgm:whole>
    <a:ln w="1905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11210-7AFF-47C4-9061-A1A85546CEBC}">
      <dsp:nvSpPr>
        <dsp:cNvPr id="0" name=""/>
        <dsp:cNvSpPr/>
      </dsp:nvSpPr>
      <dsp:spPr>
        <a:xfrm>
          <a:off x="0" y="192592"/>
          <a:ext cx="4528969" cy="4528969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FFC99-EAA2-4805-B0CC-2166FF44FFBF}">
      <dsp:nvSpPr>
        <dsp:cNvPr id="0" name=""/>
        <dsp:cNvSpPr/>
      </dsp:nvSpPr>
      <dsp:spPr>
        <a:xfrm>
          <a:off x="2264484" y="192592"/>
          <a:ext cx="5283797" cy="452896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Approved</a:t>
          </a:r>
        </a:p>
      </dsp:txBody>
      <dsp:txXfrm>
        <a:off x="2264484" y="192592"/>
        <a:ext cx="2641898" cy="724635"/>
      </dsp:txXfrm>
    </dsp:sp>
    <dsp:sp modelId="{785A4394-8770-4793-8302-5C07D0C56063}">
      <dsp:nvSpPr>
        <dsp:cNvPr id="0" name=""/>
        <dsp:cNvSpPr/>
      </dsp:nvSpPr>
      <dsp:spPr>
        <a:xfrm>
          <a:off x="475541" y="917227"/>
          <a:ext cx="3577885" cy="3577885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814257"/>
            <a:satOff val="2799"/>
            <a:lumOff val="-1343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91AC9-DB80-450B-A5FF-0A6876CEE808}">
      <dsp:nvSpPr>
        <dsp:cNvPr id="0" name=""/>
        <dsp:cNvSpPr/>
      </dsp:nvSpPr>
      <dsp:spPr>
        <a:xfrm>
          <a:off x="2264484" y="917227"/>
          <a:ext cx="5283797" cy="357788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814257"/>
              <a:satOff val="2799"/>
              <a:lumOff val="-13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Rejected </a:t>
          </a:r>
        </a:p>
      </dsp:txBody>
      <dsp:txXfrm>
        <a:off x="2264484" y="917227"/>
        <a:ext cx="2641898" cy="724635"/>
      </dsp:txXfrm>
    </dsp:sp>
    <dsp:sp modelId="{604AB983-0F31-4FB4-82B6-44558C78F6F0}">
      <dsp:nvSpPr>
        <dsp:cNvPr id="0" name=""/>
        <dsp:cNvSpPr/>
      </dsp:nvSpPr>
      <dsp:spPr>
        <a:xfrm>
          <a:off x="951083" y="1641862"/>
          <a:ext cx="2626802" cy="2626802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1628513"/>
            <a:satOff val="5598"/>
            <a:lumOff val="-268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A5C5A-C6EE-4734-9393-2BCF629566F5}">
      <dsp:nvSpPr>
        <dsp:cNvPr id="0" name=""/>
        <dsp:cNvSpPr/>
      </dsp:nvSpPr>
      <dsp:spPr>
        <a:xfrm>
          <a:off x="2264484" y="1641862"/>
          <a:ext cx="5283797" cy="26268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1628513"/>
              <a:satOff val="5598"/>
              <a:lumOff val="-2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Review</a:t>
          </a:r>
        </a:p>
      </dsp:txBody>
      <dsp:txXfrm>
        <a:off x="2264484" y="1641862"/>
        <a:ext cx="2641898" cy="724635"/>
      </dsp:txXfrm>
    </dsp:sp>
    <dsp:sp modelId="{91800FEA-1E55-4901-9635-16BDBF2746DC}">
      <dsp:nvSpPr>
        <dsp:cNvPr id="0" name=""/>
        <dsp:cNvSpPr/>
      </dsp:nvSpPr>
      <dsp:spPr>
        <a:xfrm>
          <a:off x="1426625" y="2366497"/>
          <a:ext cx="1675718" cy="1675718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2442770"/>
            <a:satOff val="8397"/>
            <a:lumOff val="-4029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1F250-E0EC-49D3-8F3C-D53EA27DA296}">
      <dsp:nvSpPr>
        <dsp:cNvPr id="0" name=""/>
        <dsp:cNvSpPr/>
      </dsp:nvSpPr>
      <dsp:spPr>
        <a:xfrm>
          <a:off x="2264484" y="2366497"/>
          <a:ext cx="5283797" cy="16757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2442770"/>
              <a:satOff val="8397"/>
              <a:lumOff val="-402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Incomplete</a:t>
          </a:r>
        </a:p>
      </dsp:txBody>
      <dsp:txXfrm>
        <a:off x="2264484" y="2366497"/>
        <a:ext cx="2641898" cy="724635"/>
      </dsp:txXfrm>
    </dsp:sp>
    <dsp:sp modelId="{69B6F0B0-AEB3-480D-B8F4-72AC1BED5FC2}">
      <dsp:nvSpPr>
        <dsp:cNvPr id="0" name=""/>
        <dsp:cNvSpPr/>
      </dsp:nvSpPr>
      <dsp:spPr>
        <a:xfrm>
          <a:off x="1902167" y="3091132"/>
          <a:ext cx="724635" cy="724635"/>
        </a:xfrm>
        <a:prstGeom prst="pie">
          <a:avLst>
            <a:gd name="adj1" fmla="val 5400000"/>
            <a:gd name="adj2" fmla="val 16200000"/>
          </a:avLst>
        </a:prstGeom>
        <a:solidFill>
          <a:srgbClr val="C543B2"/>
        </a:solidFill>
        <a:ln w="25400" cap="flat" cmpd="sng" algn="ctr">
          <a:solidFill>
            <a:srgbClr val="C54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5D579-AF05-43C0-BA35-9E08C9F06BEE}">
      <dsp:nvSpPr>
        <dsp:cNvPr id="0" name=""/>
        <dsp:cNvSpPr/>
      </dsp:nvSpPr>
      <dsp:spPr>
        <a:xfrm>
          <a:off x="2264484" y="3091132"/>
          <a:ext cx="5283797" cy="724635"/>
        </a:xfrm>
        <a:prstGeom prst="rect">
          <a:avLst/>
        </a:prstGeom>
        <a:solidFill>
          <a:schemeClr val="bg1"/>
        </a:solidFill>
        <a:ln w="25400" cap="flat" cmpd="sng" algn="ctr">
          <a:solidFill>
            <a:srgbClr val="C54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Funding </a:t>
          </a:r>
        </a:p>
      </dsp:txBody>
      <dsp:txXfrm>
        <a:off x="2264484" y="3091132"/>
        <a:ext cx="2641898" cy="724635"/>
      </dsp:txXfrm>
    </dsp:sp>
    <dsp:sp modelId="{11AA5104-996E-47D8-813A-AA513FEDE4C5}">
      <dsp:nvSpPr>
        <dsp:cNvPr id="0" name=""/>
        <dsp:cNvSpPr/>
      </dsp:nvSpPr>
      <dsp:spPr>
        <a:xfrm>
          <a:off x="4906383" y="192592"/>
          <a:ext cx="2641898" cy="724635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/>
            <a:t>RCSC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/>
            <a:t>Credit ops</a:t>
          </a:r>
        </a:p>
      </dsp:txBody>
      <dsp:txXfrm>
        <a:off x="4906383" y="192592"/>
        <a:ext cx="2641898" cy="724635"/>
      </dsp:txXfrm>
    </dsp:sp>
    <dsp:sp modelId="{E900FDEA-C4D5-4BF8-8D3F-CBD04361C2B1}">
      <dsp:nvSpPr>
        <dsp:cNvPr id="0" name=""/>
        <dsp:cNvSpPr/>
      </dsp:nvSpPr>
      <dsp:spPr>
        <a:xfrm>
          <a:off x="4906383" y="917227"/>
          <a:ext cx="2641898" cy="724635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strike="sngStrike" kern="1200" dirty="0"/>
            <a:t>Fraud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strike="sngStrike" kern="1200" dirty="0"/>
            <a:t>RCSC</a:t>
          </a:r>
          <a:r>
            <a:rPr lang="en-US" sz="2000" kern="1200" dirty="0"/>
            <a:t> </a:t>
          </a:r>
        </a:p>
      </dsp:txBody>
      <dsp:txXfrm>
        <a:off x="4906383" y="917227"/>
        <a:ext cx="2641898" cy="724635"/>
      </dsp:txXfrm>
    </dsp:sp>
    <dsp:sp modelId="{E47D8D81-16F4-4C43-BE40-4852E2ADFAF6}">
      <dsp:nvSpPr>
        <dsp:cNvPr id="0" name=""/>
        <dsp:cNvSpPr/>
      </dsp:nvSpPr>
      <dsp:spPr>
        <a:xfrm>
          <a:off x="4906383" y="1641862"/>
          <a:ext cx="2641898" cy="724635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/>
            <a:t>RCSC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/>
            <a:t>Fraud</a:t>
          </a:r>
        </a:p>
      </dsp:txBody>
      <dsp:txXfrm>
        <a:off x="4906383" y="1641862"/>
        <a:ext cx="2641898" cy="724635"/>
      </dsp:txXfrm>
    </dsp:sp>
    <dsp:sp modelId="{877E2217-0768-4902-9852-12BE0E89A15F}">
      <dsp:nvSpPr>
        <dsp:cNvPr id="0" name=""/>
        <dsp:cNvSpPr/>
      </dsp:nvSpPr>
      <dsp:spPr>
        <a:xfrm>
          <a:off x="4906383" y="2366497"/>
          <a:ext cx="2641898" cy="724635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strike="sngStrike" kern="1200" dirty="0"/>
            <a:t>Contact center</a:t>
          </a:r>
        </a:p>
      </dsp:txBody>
      <dsp:txXfrm>
        <a:off x="4906383" y="2366497"/>
        <a:ext cx="2641898" cy="724635"/>
      </dsp:txXfrm>
    </dsp:sp>
    <dsp:sp modelId="{8FD3CACF-E5B9-4C9A-959E-C184E531DEC9}">
      <dsp:nvSpPr>
        <dsp:cNvPr id="0" name=""/>
        <dsp:cNvSpPr/>
      </dsp:nvSpPr>
      <dsp:spPr>
        <a:xfrm>
          <a:off x="4906383" y="3091132"/>
          <a:ext cx="2641898" cy="724635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/>
            <a:t>Credit ops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/>
            <a:t>RCSC</a:t>
          </a:r>
        </a:p>
      </dsp:txBody>
      <dsp:txXfrm>
        <a:off x="4906383" y="3091132"/>
        <a:ext cx="2641898" cy="7246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defTabSz="931726">
              <a:spcBef>
                <a:spcPct val="0"/>
              </a:spcBef>
              <a:buClrTx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9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algn="r" defTabSz="931726">
              <a:spcBef>
                <a:spcPct val="0"/>
              </a:spcBef>
              <a:buClrTx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defTabSz="931726">
              <a:spcBef>
                <a:spcPct val="0"/>
              </a:spcBef>
              <a:buClrTx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9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 defTabSz="931726">
              <a:spcBef>
                <a:spcPct val="0"/>
              </a:spcBef>
              <a:buClrTx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68A35310-7B8E-4770-AB3E-E1A1E9A8C217}" type="slidenum">
              <a:rPr lang="en-CA"/>
              <a:pPr>
                <a:defRPr/>
              </a:pPr>
              <a:t>‹#›</a:t>
            </a:fld>
            <a:endParaRPr lang="en-CA" dirty="0"/>
          </a:p>
        </p:txBody>
      </p:sp>
      <p:sp>
        <p:nvSpPr>
          <p:cNvPr id="26630" name="hc" descr="CONFIDENTIAL"/>
          <p:cNvSpPr txBox="1">
            <a:spLocks noChangeArrowheads="1"/>
          </p:cNvSpPr>
          <p:nvPr/>
        </p:nvSpPr>
        <p:spPr bwMode="auto">
          <a:xfrm>
            <a:off x="0" y="1"/>
            <a:ext cx="7010400" cy="23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64" tIns="46582" rIns="93164" bIns="46582">
            <a:spAutoFit/>
          </a:bodyPr>
          <a:lstStyle/>
          <a:p>
            <a:pPr algn="ctr" defTabSz="931726">
              <a:defRPr/>
            </a:pPr>
            <a:r>
              <a:rPr lang="en-CA" sz="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020143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defTabSz="931726">
              <a:spcBef>
                <a:spcPct val="0"/>
              </a:spcBef>
              <a:buClrTx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9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algn="r" defTabSz="931726">
              <a:spcBef>
                <a:spcPct val="0"/>
              </a:spcBef>
              <a:buClrTx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6" y="4416426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defTabSz="931726">
              <a:spcBef>
                <a:spcPct val="0"/>
              </a:spcBef>
              <a:buClrTx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9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 defTabSz="931726">
              <a:spcBef>
                <a:spcPct val="0"/>
              </a:spcBef>
              <a:buClrTx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2AB8724F-A3C6-451A-B572-20F0506D72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176" name="hc" descr="CONFIDENTIAL"/>
          <p:cNvSpPr txBox="1">
            <a:spLocks noChangeArrowheads="1"/>
          </p:cNvSpPr>
          <p:nvPr/>
        </p:nvSpPr>
        <p:spPr bwMode="auto">
          <a:xfrm>
            <a:off x="0" y="1"/>
            <a:ext cx="7010400" cy="23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64" tIns="46582" rIns="93164" bIns="46582">
            <a:spAutoFit/>
          </a:bodyPr>
          <a:lstStyle/>
          <a:p>
            <a:pPr algn="ctr" defTabSz="931726">
              <a:defRPr/>
            </a:pPr>
            <a:r>
              <a:rPr lang="en-CA" sz="900" b="1" i="0" u="non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64351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46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88" y="188640"/>
            <a:ext cx="8713787" cy="3603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48C702-A665-446B-AF25-4D3ADA0F8D8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51520" y="6381750"/>
            <a:ext cx="8641655" cy="0"/>
          </a:xfrm>
          <a:prstGeom prst="line">
            <a:avLst/>
          </a:prstGeom>
          <a:noFill/>
          <a:ln w="28575" cap="flat" cmpd="sng" algn="ctr">
            <a:solidFill>
              <a:srgbClr val="FAA63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5B6A11-E962-4A67-B102-CF54088B8F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765175"/>
            <a:ext cx="4279900" cy="5543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765175"/>
            <a:ext cx="4281487" cy="5543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1F74CB-842D-4C85-852F-68364EDC32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CD139-C4B5-4047-9FE7-6DE0657E94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CC070D-FFA0-494E-B9C5-4FF4893633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CDCD5-433C-4501-A685-41691C0AFB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2032B-E160-4FFD-B4AB-442D0B5C8F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6973E-1028-43C5-A60E-8BD7DB414DC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1F0A8-C4EE-43B9-AC92-0748B5419B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260350"/>
            <a:ext cx="2178050" cy="604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260350"/>
            <a:ext cx="6383337" cy="604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F871E-7CD9-47F1-9D27-B133AF9C87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88" y="260350"/>
            <a:ext cx="8713787" cy="3603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765175"/>
            <a:ext cx="8713787" cy="554355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1FF41-2A7F-415D-B2B8-C373AC3EF60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A_col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24750" y="6453188"/>
            <a:ext cx="1368425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13"/>
          <p:cNvSpPr>
            <a:spLocks noChangeShapeType="1"/>
          </p:cNvSpPr>
          <p:nvPr userDrawn="1"/>
        </p:nvSpPr>
        <p:spPr bwMode="auto">
          <a:xfrm>
            <a:off x="179388" y="620713"/>
            <a:ext cx="8713787" cy="0"/>
          </a:xfrm>
          <a:prstGeom prst="line">
            <a:avLst/>
          </a:prstGeom>
          <a:noFill/>
          <a:ln w="25400">
            <a:solidFill>
              <a:srgbClr val="FAA634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>
              <a:defRPr/>
            </a:pPr>
            <a:endParaRPr lang="en-CA" sz="1200" dirty="0">
              <a:latin typeface="Arial" charset="0"/>
              <a:ea typeface="+mn-ea"/>
              <a:cs typeface="+mn-cs"/>
            </a:endParaRPr>
          </a:p>
        </p:txBody>
      </p:sp>
      <p:sp>
        <p:nvSpPr>
          <p:cNvPr id="6" name="hc" descr="CONFIDENTIAL"/>
          <p:cNvSpPr txBox="1"/>
          <p:nvPr userDrawn="1"/>
        </p:nvSpPr>
        <p:spPr>
          <a:xfrm>
            <a:off x="0" y="0"/>
            <a:ext cx="9144000" cy="230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CA" sz="900" b="1" i="0" u="non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74EC5-25F4-43CA-9258-5B4F5E6B0F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765175"/>
            <a:ext cx="8713787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260350"/>
            <a:ext cx="8713787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title style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9388" y="6381750"/>
            <a:ext cx="431800" cy="2889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4E24063-9982-490F-902E-95B484283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29" name="Picture 12" descr="A_col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7524750" y="6453188"/>
            <a:ext cx="1368425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7" name="Line 13"/>
          <p:cNvSpPr>
            <a:spLocks noChangeShapeType="1"/>
          </p:cNvSpPr>
          <p:nvPr userDrawn="1"/>
        </p:nvSpPr>
        <p:spPr bwMode="auto">
          <a:xfrm>
            <a:off x="179388" y="620713"/>
            <a:ext cx="8713787" cy="0"/>
          </a:xfrm>
          <a:prstGeom prst="line">
            <a:avLst/>
          </a:prstGeom>
          <a:noFill/>
          <a:ln w="25400">
            <a:solidFill>
              <a:srgbClr val="FAA634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>
              <a:defRPr/>
            </a:pPr>
            <a:endParaRPr lang="en-CA" sz="1200" dirty="0">
              <a:latin typeface="Arial" charset="0"/>
              <a:ea typeface="+mn-ea"/>
              <a:cs typeface="+mn-cs"/>
            </a:endParaRPr>
          </a:p>
        </p:txBody>
      </p:sp>
      <p:sp>
        <p:nvSpPr>
          <p:cNvPr id="1038" name="hc" descr="CONFIDENTIAL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CA" sz="900" b="1" i="0" u="non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  <p:sldLayoutId id="214748366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7500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Char char="o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Arial" charset="0"/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Arial" charset="0"/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5000"/>
        <a:buFont typeface="Arial" charset="0"/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5000"/>
        <a:buFont typeface="Arial" charset="0"/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5000"/>
        <a:buFont typeface="Arial" charset="0"/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5000"/>
        <a:buFont typeface="Arial" charset="0"/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Excel_Worksheet.xls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7"/>
          <p:cNvSpPr txBox="1">
            <a:spLocks noChangeArrowheads="1"/>
          </p:cNvSpPr>
          <p:nvPr/>
        </p:nvSpPr>
        <p:spPr bwMode="auto">
          <a:xfrm>
            <a:off x="107504" y="6453336"/>
            <a:ext cx="84978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b="1" dirty="0">
                <a:latin typeface="Arial" charset="0"/>
              </a:rPr>
              <a:t>October 15, 2019</a:t>
            </a:r>
            <a:endParaRPr lang="en-CA" sz="1200" b="1" dirty="0">
              <a:latin typeface="Arial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67544" y="1772816"/>
            <a:ext cx="856964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100000"/>
              </a:spcBef>
            </a:pPr>
            <a:r>
              <a:rPr lang="en-CA" sz="2400" dirty="0">
                <a:latin typeface="+mj-lt"/>
              </a:rPr>
              <a:t>Alterna Bank</a:t>
            </a:r>
          </a:p>
          <a:p>
            <a:pPr algn="ctr">
              <a:spcBef>
                <a:spcPct val="100000"/>
              </a:spcBef>
            </a:pPr>
            <a:r>
              <a:rPr lang="en-US" sz="2400" dirty="0">
                <a:latin typeface="+mj-lt"/>
              </a:rPr>
              <a:t>Online Lending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1FFA26-C518-42DB-8F68-5E528216F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9CDCD5-433C-4501-A685-41691C0AFBB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19F5-2BF6-4726-BA42-E1B61EBA7D28}"/>
              </a:ext>
            </a:extLst>
          </p:cNvPr>
          <p:cNvSpPr txBox="1"/>
          <p:nvPr/>
        </p:nvSpPr>
        <p:spPr>
          <a:xfrm>
            <a:off x="107504" y="292006"/>
            <a:ext cx="401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CUSTOMER FLOW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7EBEC-B814-474E-8932-252CCD89A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764704"/>
            <a:ext cx="8713092" cy="60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100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914E7C-043E-441E-8F55-5F26B3AAFA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61"/>
          <a:stretch/>
        </p:blipFill>
        <p:spPr>
          <a:xfrm>
            <a:off x="989189" y="643467"/>
            <a:ext cx="7165620" cy="55710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75EE22-1C75-48D9-8EA6-9883622C249C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C-1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877BFD-3AD4-4169-84E6-417504B89BA7}"/>
              </a:ext>
            </a:extLst>
          </p:cNvPr>
          <p:cNvSpPr txBox="1"/>
          <p:nvPr/>
        </p:nvSpPr>
        <p:spPr>
          <a:xfrm>
            <a:off x="323528" y="1433681"/>
            <a:ext cx="1872208" cy="25391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Customer first page</a:t>
            </a:r>
            <a:endParaRPr lang="en-CA" sz="1050" b="1" dirty="0"/>
          </a:p>
        </p:txBody>
      </p:sp>
    </p:spTree>
    <p:extLst>
      <p:ext uri="{BB962C8B-B14F-4D97-AF65-F5344CB8AC3E}">
        <p14:creationId xmlns:p14="http://schemas.microsoft.com/office/powerpoint/2010/main" val="77712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EAB261-F3C7-4958-8A6E-89F736490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40" y="643467"/>
            <a:ext cx="7258718" cy="55710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F1CA02-3D82-45AE-A7C9-88C34B37ADDA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C-2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48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2E02E9-9313-483D-8592-2D4032F62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612" y="643467"/>
            <a:ext cx="6022774" cy="55710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08F81D-D44A-488F-BE98-01A7911C6695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C-3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22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411AE-338D-4175-9297-53B89E3E6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883349"/>
            <a:ext cx="8178799" cy="50913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23FE9A-7DD6-4204-9E3B-D40A91DCB14C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C-4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5122" name="Picture 2" descr="Image result for mail">
            <a:extLst>
              <a:ext uri="{FF2B5EF4-FFF2-40B4-BE49-F238E27FC236}">
                <a16:creationId xmlns:a16="http://schemas.microsoft.com/office/drawing/2014/main" id="{7496B41B-7893-4699-83ED-EF4908611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243" y="2060848"/>
            <a:ext cx="1471757" cy="151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06D7AB28-04DC-4CE3-8924-F83DCDC2E63D}"/>
              </a:ext>
            </a:extLst>
          </p:cNvPr>
          <p:cNvSpPr/>
          <p:nvPr/>
        </p:nvSpPr>
        <p:spPr bwMode="auto">
          <a:xfrm>
            <a:off x="7024171" y="2276872"/>
            <a:ext cx="792088" cy="1152128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295AA56-8AC5-45AF-B78F-958C7C098688}"/>
              </a:ext>
            </a:extLst>
          </p:cNvPr>
          <p:cNvSpPr/>
          <p:nvPr/>
        </p:nvSpPr>
        <p:spPr bwMode="auto">
          <a:xfrm>
            <a:off x="8205593" y="3429000"/>
            <a:ext cx="517475" cy="360040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E-1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2CB19-E1A2-489C-86B2-A0966E9C919E}"/>
              </a:ext>
            </a:extLst>
          </p:cNvPr>
          <p:cNvSpPr txBox="1"/>
          <p:nvPr/>
        </p:nvSpPr>
        <p:spPr>
          <a:xfrm>
            <a:off x="7712653" y="3787130"/>
            <a:ext cx="14717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libri Light" panose="020F0302020204030204" pitchFamily="34" charset="0"/>
                <a:cs typeface="Calibri Light" panose="020F0302020204030204" pitchFamily="34" charset="0"/>
              </a:rPr>
              <a:t>Verification of Email</a:t>
            </a:r>
            <a:endParaRPr lang="en-CA" sz="105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D76C6-2ADE-475E-B836-140B4747EFD3}"/>
              </a:ext>
            </a:extLst>
          </p:cNvPr>
          <p:cNvSpPr txBox="1"/>
          <p:nvPr/>
        </p:nvSpPr>
        <p:spPr>
          <a:xfrm>
            <a:off x="2483768" y="341290"/>
            <a:ext cx="3528392" cy="41549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If for some reason, email issues, can we resend email link [WHO]</a:t>
            </a:r>
          </a:p>
        </p:txBody>
      </p:sp>
    </p:spTree>
    <p:extLst>
      <p:ext uri="{BB962C8B-B14F-4D97-AF65-F5344CB8AC3E}">
        <p14:creationId xmlns:p14="http://schemas.microsoft.com/office/powerpoint/2010/main" val="124996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70B2B-E95C-4DE4-9DE2-1513A875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971" y="1783959"/>
            <a:ext cx="3483937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Click on Email to validate email address</a:t>
            </a:r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18115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3DAD6E-1E02-4B84-9914-D585F6938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36" y="1798874"/>
            <a:ext cx="3035882" cy="1892081"/>
          </a:xfrm>
          <a:prstGeom prst="rect">
            <a:avLst/>
          </a:prstGeom>
        </p:spPr>
      </p:pic>
      <p:sp>
        <p:nvSpPr>
          <p:cNvPr id="3" name="AutoShape 2" descr="Image result for click on email  logo">
            <a:extLst>
              <a:ext uri="{FF2B5EF4-FFF2-40B4-BE49-F238E27FC236}">
                <a16:creationId xmlns:a16="http://schemas.microsoft.com/office/drawing/2014/main" id="{B4E097AB-8AB9-4103-AD13-E2F4D13775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744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897B97-1DB3-4266-99E0-96A738A7A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50" y="643467"/>
            <a:ext cx="5487499" cy="55710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991FE96-0E71-4140-A712-4B647D1198EA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C-5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4AB7E7-C074-48C9-8C45-6A2D00D8DBE9}"/>
              </a:ext>
            </a:extLst>
          </p:cNvPr>
          <p:cNvSpPr txBox="1"/>
          <p:nvPr/>
        </p:nvSpPr>
        <p:spPr>
          <a:xfrm>
            <a:off x="323528" y="1433681"/>
            <a:ext cx="1872208" cy="41549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Customer LOGS back in</a:t>
            </a:r>
          </a:p>
          <a:p>
            <a:r>
              <a:rPr lang="en-US" sz="1050" b="1" dirty="0"/>
              <a:t>(from EMAIL)</a:t>
            </a:r>
            <a:endParaRPr lang="en-CA" sz="1050" b="1" dirty="0"/>
          </a:p>
        </p:txBody>
      </p:sp>
    </p:spTree>
    <p:extLst>
      <p:ext uri="{BB962C8B-B14F-4D97-AF65-F5344CB8AC3E}">
        <p14:creationId xmlns:p14="http://schemas.microsoft.com/office/powerpoint/2010/main" val="55685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94A62-B1C3-488F-A452-5EC71FE2E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839" y="643467"/>
            <a:ext cx="4944320" cy="55710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D6D9FA-1C53-4FD0-8665-9624AF72BF88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C-6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08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70B2B-E95C-4DE4-9DE2-1513A875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971" y="1783959"/>
            <a:ext cx="3483937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8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eID</a:t>
            </a:r>
            <a:r>
              <a:rPr lang="en-US" sz="3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Verifier</a:t>
            </a:r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18115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2" descr="Image result for click on email  logo">
            <a:extLst>
              <a:ext uri="{FF2B5EF4-FFF2-40B4-BE49-F238E27FC236}">
                <a16:creationId xmlns:a16="http://schemas.microsoft.com/office/drawing/2014/main" id="{B4E097AB-8AB9-4103-AD13-E2F4D13775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1026" name="Picture 2" descr="Equifax Credit Watch">
            <a:extLst>
              <a:ext uri="{FF2B5EF4-FFF2-40B4-BE49-F238E27FC236}">
                <a16:creationId xmlns:a16="http://schemas.microsoft.com/office/drawing/2014/main" id="{E8153C06-9B45-45F7-A749-628B3B36D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88" y="1556792"/>
            <a:ext cx="3483937" cy="66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020E5D-FD90-4DAC-BEEE-32C78D77B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132856"/>
            <a:ext cx="1531872" cy="93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8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D67806-C021-47DE-8939-85091FB05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839" y="643467"/>
            <a:ext cx="4944320" cy="5571066"/>
          </a:xfrm>
          <a:prstGeom prst="rect">
            <a:avLst/>
          </a:prstGeom>
        </p:spPr>
      </p:pic>
      <p:pic>
        <p:nvPicPr>
          <p:cNvPr id="5" name="Picture 4" descr="image005">
            <a:extLst>
              <a:ext uri="{FF2B5EF4-FFF2-40B4-BE49-F238E27FC236}">
                <a16:creationId xmlns:a16="http://schemas.microsoft.com/office/drawing/2014/main" id="{5BA6B1FA-5BE6-45B4-8C95-7852FF2B0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098476"/>
            <a:ext cx="3816424" cy="2617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1E56A1D-D835-4356-945F-CBD282A377C6}"/>
              </a:ext>
            </a:extLst>
          </p:cNvPr>
          <p:cNvSpPr/>
          <p:nvPr/>
        </p:nvSpPr>
        <p:spPr bwMode="auto">
          <a:xfrm>
            <a:off x="2771800" y="3429000"/>
            <a:ext cx="3672408" cy="158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10683-4CF1-490C-9E23-B20A035D4D78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C-7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364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E56A1D-D835-4356-945F-CBD282A377C6}"/>
              </a:ext>
            </a:extLst>
          </p:cNvPr>
          <p:cNvSpPr/>
          <p:nvPr/>
        </p:nvSpPr>
        <p:spPr bwMode="auto">
          <a:xfrm>
            <a:off x="2771800" y="3429000"/>
            <a:ext cx="3672408" cy="158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10683-4CF1-490C-9E23-B20A035D4D78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C-7.1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BB966-449F-44B7-BCF7-06316357411B}"/>
              </a:ext>
            </a:extLst>
          </p:cNvPr>
          <p:cNvSpPr txBox="1"/>
          <p:nvPr/>
        </p:nvSpPr>
        <p:spPr>
          <a:xfrm>
            <a:off x="2483768" y="341290"/>
            <a:ext cx="3528392" cy="90024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 err="1"/>
              <a:t>eID</a:t>
            </a:r>
            <a:r>
              <a:rPr lang="en-US" sz="1050" b="1" dirty="0"/>
              <a:t> = N | R</a:t>
            </a:r>
          </a:p>
          <a:p>
            <a:r>
              <a:rPr lang="en-US" sz="1050" b="1" dirty="0"/>
              <a:t>Equifax Verifier was not able to identify the customer </a:t>
            </a:r>
          </a:p>
          <a:p>
            <a:r>
              <a:rPr lang="en-US" sz="1050" b="1" dirty="0">
                <a:solidFill>
                  <a:srgbClr val="C00000"/>
                </a:solidFill>
              </a:rPr>
              <a:t>Add New Screen for RETRIES</a:t>
            </a:r>
          </a:p>
          <a:p>
            <a:r>
              <a:rPr lang="en-US" sz="1050" b="1" dirty="0">
                <a:solidFill>
                  <a:srgbClr val="C00000"/>
                </a:solidFill>
              </a:rPr>
              <a:t>Amend verbiage to be same as C-7.1</a:t>
            </a:r>
          </a:p>
          <a:p>
            <a:r>
              <a:rPr lang="en-US" sz="1050" b="1" dirty="0">
                <a:solidFill>
                  <a:srgbClr val="C00000"/>
                </a:solidFill>
              </a:rPr>
              <a:t>Delete contact verbiage</a:t>
            </a:r>
            <a:endParaRPr lang="en-CA" sz="105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01FBF4-FDF0-4C13-A794-5486885E4A01}"/>
              </a:ext>
            </a:extLst>
          </p:cNvPr>
          <p:cNvSpPr txBox="1"/>
          <p:nvPr/>
        </p:nvSpPr>
        <p:spPr>
          <a:xfrm>
            <a:off x="323528" y="1379431"/>
            <a:ext cx="1296144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TERMINAL</a:t>
            </a:r>
            <a:endParaRPr lang="en-CA" sz="105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FCAF3-091B-40BB-9455-BDC3AA26B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64" y="1700808"/>
            <a:ext cx="7812360" cy="410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02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70B2B-E95C-4DE4-9DE2-1513A875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971" y="1783959"/>
            <a:ext cx="3483937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KYC</a:t>
            </a:r>
            <a:br>
              <a:rPr lang="en-US" sz="3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AccountDetails</a:t>
            </a:r>
            <a:endParaRPr lang="en-US" sz="3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18115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2" descr="Image result for click on email  logo">
            <a:extLst>
              <a:ext uri="{FF2B5EF4-FFF2-40B4-BE49-F238E27FC236}">
                <a16:creationId xmlns:a16="http://schemas.microsoft.com/office/drawing/2014/main" id="{B4E097AB-8AB9-4103-AD13-E2F4D13775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2050" name="Picture 2" descr="Image result for flinks">
            <a:extLst>
              <a:ext uri="{FF2B5EF4-FFF2-40B4-BE49-F238E27FC236}">
                <a16:creationId xmlns:a16="http://schemas.microsoft.com/office/drawing/2014/main" id="{FBCBC876-A67E-4438-A241-0AFC77FCA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2696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1184B35-4824-41FB-8301-1EC9FE282B9C}"/>
              </a:ext>
            </a:extLst>
          </p:cNvPr>
          <p:cNvSpPr txBox="1">
            <a:spLocks/>
          </p:cNvSpPr>
          <p:nvPr/>
        </p:nvSpPr>
        <p:spPr bwMode="auto">
          <a:xfrm>
            <a:off x="741819" y="3861048"/>
            <a:ext cx="2555776" cy="1506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lnSpcReduction="1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3800" b="1" dirty="0"/>
              <a:t>o</a:t>
            </a:r>
            <a:r>
              <a:rPr lang="en-US" sz="3800" b="1" kern="1200" dirty="0"/>
              <a:t>r </a:t>
            </a:r>
          </a:p>
          <a:p>
            <a:pPr eaLnBrk="1" hangingPunct="1">
              <a:lnSpc>
                <a:spcPct val="90000"/>
              </a:lnSpc>
            </a:pPr>
            <a:r>
              <a:rPr lang="en-US" sz="3800" b="1" kern="1200" dirty="0">
                <a:solidFill>
                  <a:srgbClr val="FFC000"/>
                </a:solidFill>
              </a:rPr>
              <a:t>MANUAL UPLOAD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895C50-14B5-4721-87A5-216EAFA9A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882" y="2199727"/>
            <a:ext cx="1442714" cy="8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71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AD24B6-FC70-456E-9DA8-931F42AAF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73" y="857250"/>
            <a:ext cx="8715054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40B75C-59F7-42E5-8AD2-097550C92F0A}"/>
              </a:ext>
            </a:extLst>
          </p:cNvPr>
          <p:cNvSpPr/>
          <p:nvPr/>
        </p:nvSpPr>
        <p:spPr>
          <a:xfrm>
            <a:off x="6141308" y="2136174"/>
            <a:ext cx="1217141" cy="407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E31D8-3764-4464-906E-0A99672EA1F9}"/>
              </a:ext>
            </a:extLst>
          </p:cNvPr>
          <p:cNvSpPr txBox="1"/>
          <p:nvPr/>
        </p:nvSpPr>
        <p:spPr>
          <a:xfrm>
            <a:off x="6141308" y="2167066"/>
            <a:ext cx="9947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Upload utility bill, bank statement, or property tax</a:t>
            </a:r>
            <a:endParaRPr lang="en-CA" sz="67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4A2417-672B-4EB5-BC70-6CC054B3DBF2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C-8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578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AD24B6-FC70-456E-9DA8-931F42AAF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73" y="857250"/>
            <a:ext cx="8715054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40B75C-59F7-42E5-8AD2-097550C92F0A}"/>
              </a:ext>
            </a:extLst>
          </p:cNvPr>
          <p:cNvSpPr/>
          <p:nvPr/>
        </p:nvSpPr>
        <p:spPr>
          <a:xfrm>
            <a:off x="6141308" y="2136174"/>
            <a:ext cx="1217141" cy="407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E31D8-3764-4464-906E-0A99672EA1F9}"/>
              </a:ext>
            </a:extLst>
          </p:cNvPr>
          <p:cNvSpPr txBox="1"/>
          <p:nvPr/>
        </p:nvSpPr>
        <p:spPr>
          <a:xfrm>
            <a:off x="6141308" y="2167066"/>
            <a:ext cx="9947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Upload utility bill, bank statement, or property tax</a:t>
            </a:r>
            <a:endParaRPr lang="en-CA" sz="67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4A2417-672B-4EB5-BC70-6CC054B3DBF2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C-8.1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Picture 1" descr="image001">
            <a:extLst>
              <a:ext uri="{FF2B5EF4-FFF2-40B4-BE49-F238E27FC236}">
                <a16:creationId xmlns:a16="http://schemas.microsoft.com/office/drawing/2014/main" id="{F7B34B0F-40E4-43A4-8D4A-3D60C7B86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70" r="9929" b="12058"/>
          <a:stretch/>
        </p:blipFill>
        <p:spPr bwMode="auto">
          <a:xfrm>
            <a:off x="3347864" y="1434133"/>
            <a:ext cx="4574788" cy="2376264"/>
          </a:xfrm>
          <a:prstGeom prst="rect">
            <a:avLst/>
          </a:prstGeom>
          <a:noFill/>
          <a:ln>
            <a:noFill/>
          </a:ln>
          <a:effectLst>
            <a:glow rad="127000">
              <a:srgbClr val="FAA634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39C518-2BBD-45B0-BDCD-EC49D183F9A9}"/>
              </a:ext>
            </a:extLst>
          </p:cNvPr>
          <p:cNvSpPr txBox="1"/>
          <p:nvPr/>
        </p:nvSpPr>
        <p:spPr>
          <a:xfrm>
            <a:off x="2483768" y="341290"/>
            <a:ext cx="3528392" cy="25391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Note: Flinks Fraud checks NOT show stopper</a:t>
            </a:r>
            <a:endParaRPr lang="en-CA" sz="105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463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70B2B-E95C-4DE4-9DE2-1513A875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971" y="1783959"/>
            <a:ext cx="3483937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Credit Bureau</a:t>
            </a:r>
            <a:br>
              <a:rPr lang="en-US" sz="3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Soft Pull</a:t>
            </a:r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18115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2" descr="Image result for click on email  logo">
            <a:extLst>
              <a:ext uri="{FF2B5EF4-FFF2-40B4-BE49-F238E27FC236}">
                <a16:creationId xmlns:a16="http://schemas.microsoft.com/office/drawing/2014/main" id="{B4E097AB-8AB9-4103-AD13-E2F4D13775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1026" name="Picture 2" descr="Equifax Credit Watch">
            <a:extLst>
              <a:ext uri="{FF2B5EF4-FFF2-40B4-BE49-F238E27FC236}">
                <a16:creationId xmlns:a16="http://schemas.microsoft.com/office/drawing/2014/main" id="{E8153C06-9B45-45F7-A749-628B3B36D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88" y="1556792"/>
            <a:ext cx="3483937" cy="66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7F6B1B-465B-4A88-8900-31B63FB94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132856"/>
            <a:ext cx="1404730" cy="85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76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E56A1D-D835-4356-945F-CBD282A377C6}"/>
              </a:ext>
            </a:extLst>
          </p:cNvPr>
          <p:cNvSpPr/>
          <p:nvPr/>
        </p:nvSpPr>
        <p:spPr bwMode="auto">
          <a:xfrm>
            <a:off x="2771800" y="3429000"/>
            <a:ext cx="3672408" cy="158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10683-4CF1-490C-9E23-B20A035D4D78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C-7.1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E3E9D-9761-48D7-99EA-E9E14E59F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95" y="1638451"/>
            <a:ext cx="7917507" cy="40948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1BB966-449F-44B7-BCF7-06316357411B}"/>
              </a:ext>
            </a:extLst>
          </p:cNvPr>
          <p:cNvSpPr txBox="1"/>
          <p:nvPr/>
        </p:nvSpPr>
        <p:spPr>
          <a:xfrm>
            <a:off x="2483768" y="341290"/>
            <a:ext cx="3528392" cy="41549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Situation where CB would result into NO data</a:t>
            </a:r>
          </a:p>
          <a:p>
            <a:r>
              <a:rPr lang="en-US" sz="1050" b="1" dirty="0">
                <a:solidFill>
                  <a:srgbClr val="C00000"/>
                </a:solidFill>
              </a:rPr>
              <a:t>Very improbable as Verifier passed</a:t>
            </a:r>
            <a:endParaRPr lang="en-CA" sz="1050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13561-0D5F-416C-9997-B9F232B7D67C}"/>
              </a:ext>
            </a:extLst>
          </p:cNvPr>
          <p:cNvSpPr txBox="1"/>
          <p:nvPr/>
        </p:nvSpPr>
        <p:spPr>
          <a:xfrm>
            <a:off x="323528" y="1379431"/>
            <a:ext cx="1296144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TERMINAL</a:t>
            </a:r>
            <a:endParaRPr lang="en-CA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86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43D86-8482-4443-BD88-EC01C159E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887" y="2725616"/>
            <a:ext cx="4334901" cy="18833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Decision Engine</a:t>
            </a:r>
            <a:br>
              <a:rPr lang="en-US" sz="4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600" b="1" i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Conditional approval</a:t>
            </a:r>
            <a:endParaRPr lang="en-US" sz="4200" b="1" i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18115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23D20-CD57-4B2C-87C8-759732ACF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36" y="1822555"/>
            <a:ext cx="3035882" cy="1844719"/>
          </a:xfrm>
          <a:prstGeom prst="rect">
            <a:avLst/>
          </a:prstGeom>
        </p:spPr>
      </p:pic>
      <p:pic>
        <p:nvPicPr>
          <p:cNvPr id="3074" name="Picture 2" descr="Image result for alterna savings">
            <a:extLst>
              <a:ext uri="{FF2B5EF4-FFF2-40B4-BE49-F238E27FC236}">
                <a16:creationId xmlns:a16="http://schemas.microsoft.com/office/drawing/2014/main" id="{49E1B768-0ADC-44C9-8F6E-A1654E298F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88" b="31177"/>
          <a:stretch/>
        </p:blipFill>
        <p:spPr bwMode="auto">
          <a:xfrm>
            <a:off x="1373135" y="3573016"/>
            <a:ext cx="1883315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623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4FBE0A-7DC1-4E84-B963-F56929804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09828"/>
            <a:ext cx="8178799" cy="51526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825094-0E04-434B-87D1-2A274431D7FA}"/>
              </a:ext>
            </a:extLst>
          </p:cNvPr>
          <p:cNvSpPr txBox="1"/>
          <p:nvPr/>
        </p:nvSpPr>
        <p:spPr>
          <a:xfrm>
            <a:off x="6300192" y="3228944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“Proceed or Continue ” vs Accept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77D36F-A15F-41C1-9CE7-BD4D8E5EA0CB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C-9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D95D2-B22E-49BD-BA33-6F86E4523256}"/>
              </a:ext>
            </a:extLst>
          </p:cNvPr>
          <p:cNvSpPr txBox="1"/>
          <p:nvPr/>
        </p:nvSpPr>
        <p:spPr>
          <a:xfrm>
            <a:off x="2483768" y="317811"/>
            <a:ext cx="3528392" cy="41549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Use CONTINUE instead of ACCEPT</a:t>
            </a:r>
          </a:p>
          <a:p>
            <a:r>
              <a:rPr lang="en-US" sz="1050" b="1" dirty="0"/>
              <a:t>Add new screen thanking person if click Decline</a:t>
            </a:r>
          </a:p>
        </p:txBody>
      </p:sp>
    </p:spTree>
    <p:extLst>
      <p:ext uri="{BB962C8B-B14F-4D97-AF65-F5344CB8AC3E}">
        <p14:creationId xmlns:p14="http://schemas.microsoft.com/office/powerpoint/2010/main" val="3802360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E56A1D-D835-4356-945F-CBD282A377C6}"/>
              </a:ext>
            </a:extLst>
          </p:cNvPr>
          <p:cNvSpPr/>
          <p:nvPr/>
        </p:nvSpPr>
        <p:spPr bwMode="auto">
          <a:xfrm>
            <a:off x="2771800" y="3429000"/>
            <a:ext cx="3672408" cy="158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10683-4CF1-490C-9E23-B20A035D4D78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C-9.1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E3E9D-9761-48D7-99EA-E9E14E59F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95" y="1638451"/>
            <a:ext cx="7917507" cy="40948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1BB966-449F-44B7-BCF7-06316357411B}"/>
              </a:ext>
            </a:extLst>
          </p:cNvPr>
          <p:cNvSpPr txBox="1"/>
          <p:nvPr/>
        </p:nvSpPr>
        <p:spPr>
          <a:xfrm>
            <a:off x="2411760" y="489261"/>
            <a:ext cx="3528392" cy="25391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No loan could be approved for the customer</a:t>
            </a:r>
          </a:p>
        </p:txBody>
      </p:sp>
    </p:spTree>
    <p:extLst>
      <p:ext uri="{BB962C8B-B14F-4D97-AF65-F5344CB8AC3E}">
        <p14:creationId xmlns:p14="http://schemas.microsoft.com/office/powerpoint/2010/main" val="3405803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29EDE4-6B64-4314-86CF-DE57EAE89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770890"/>
            <a:ext cx="8178799" cy="53162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1A87D0-56C3-43C7-8565-3C0815F921FC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C-10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797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74B952-5214-4DEC-B0CE-10BDCA80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17" y="1120796"/>
            <a:ext cx="6772275" cy="444341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0434F8B-122A-40D6-96FC-17D7930F4A84}"/>
              </a:ext>
            </a:extLst>
          </p:cNvPr>
          <p:cNvSpPr/>
          <p:nvPr/>
        </p:nvSpPr>
        <p:spPr>
          <a:xfrm>
            <a:off x="2854411" y="3328601"/>
            <a:ext cx="1606379" cy="401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77489A-45E4-49A9-B4B8-CFE5B6C9FDE7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C-11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231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E9B1FC-3382-47CF-9C33-1F928E32E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18490"/>
            <a:ext cx="8178799" cy="46210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DB6406-B10F-423E-BA70-39A7CB9C9E08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C-12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" name="Picture 2" descr="Image result for mail">
            <a:extLst>
              <a:ext uri="{FF2B5EF4-FFF2-40B4-BE49-F238E27FC236}">
                <a16:creationId xmlns:a16="http://schemas.microsoft.com/office/drawing/2014/main" id="{195A2DD8-A3FF-411D-977B-B400C8DAF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243" y="2060848"/>
            <a:ext cx="1471757" cy="151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19AE3208-64D1-4491-93AE-BF4C3DBE5DDC}"/>
              </a:ext>
            </a:extLst>
          </p:cNvPr>
          <p:cNvSpPr/>
          <p:nvPr/>
        </p:nvSpPr>
        <p:spPr bwMode="auto">
          <a:xfrm>
            <a:off x="7024171" y="2276872"/>
            <a:ext cx="792088" cy="1152128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BFDF9F-A5A4-438D-BDCE-845B763586E7}"/>
              </a:ext>
            </a:extLst>
          </p:cNvPr>
          <p:cNvSpPr/>
          <p:nvPr/>
        </p:nvSpPr>
        <p:spPr bwMode="auto">
          <a:xfrm>
            <a:off x="8205593" y="3429000"/>
            <a:ext cx="517475" cy="360040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E-2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B9DE9F-4626-496B-8B14-FE6A6029BFFF}"/>
              </a:ext>
            </a:extLst>
          </p:cNvPr>
          <p:cNvSpPr txBox="1"/>
          <p:nvPr/>
        </p:nvSpPr>
        <p:spPr>
          <a:xfrm>
            <a:off x="7712653" y="3787130"/>
            <a:ext cx="14717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libri Light" panose="020F0302020204030204" pitchFamily="34" charset="0"/>
                <a:cs typeface="Calibri Light" panose="020F0302020204030204" pitchFamily="34" charset="0"/>
              </a:rPr>
              <a:t>Verification of Application Submission</a:t>
            </a:r>
            <a:endParaRPr lang="en-CA" sz="105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E639F-A1D5-4D92-B241-6353BBD0995F}"/>
              </a:ext>
            </a:extLst>
          </p:cNvPr>
          <p:cNvSpPr/>
          <p:nvPr/>
        </p:nvSpPr>
        <p:spPr bwMode="auto">
          <a:xfrm>
            <a:off x="4754752" y="2564904"/>
            <a:ext cx="2207749" cy="576064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823A87-641D-4665-BF03-561EA8C91201}"/>
              </a:ext>
            </a:extLst>
          </p:cNvPr>
          <p:cNvSpPr txBox="1"/>
          <p:nvPr/>
        </p:nvSpPr>
        <p:spPr>
          <a:xfrm>
            <a:off x="2411760" y="489261"/>
            <a:ext cx="3528392" cy="25391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2 + 3 + X days</a:t>
            </a:r>
          </a:p>
        </p:txBody>
      </p:sp>
    </p:spTree>
    <p:extLst>
      <p:ext uri="{BB962C8B-B14F-4D97-AF65-F5344CB8AC3E}">
        <p14:creationId xmlns:p14="http://schemas.microsoft.com/office/powerpoint/2010/main" val="657789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3FF20-89BD-46DE-989F-8121AE0C1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931" y="1325330"/>
            <a:ext cx="3483937" cy="27262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Full Adjudication</a:t>
            </a:r>
            <a:br>
              <a:rPr lang="en-US" sz="4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4200" b="1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MANUAL</a:t>
            </a:r>
            <a:br>
              <a:rPr lang="en-US" sz="4200" b="1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</a:br>
            <a:r>
              <a:rPr lang="en-US" b="1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[RCSC]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18115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6547DD-2CE0-4C30-998D-2190DD6B5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36" y="1606459"/>
            <a:ext cx="3035882" cy="2276911"/>
          </a:xfrm>
          <a:prstGeom prst="rect">
            <a:avLst/>
          </a:prstGeom>
        </p:spPr>
      </p:pic>
      <p:pic>
        <p:nvPicPr>
          <p:cNvPr id="7" name="Picture 2" descr="Image result for mail">
            <a:extLst>
              <a:ext uri="{FF2B5EF4-FFF2-40B4-BE49-F238E27FC236}">
                <a16:creationId xmlns:a16="http://schemas.microsoft.com/office/drawing/2014/main" id="{3AA40AFB-59F7-4B39-AE97-F3234F73A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399" y="4696712"/>
            <a:ext cx="1471757" cy="151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15A238C-ABA7-43B5-A7F6-09B4F893C4C1}"/>
              </a:ext>
            </a:extLst>
          </p:cNvPr>
          <p:cNvSpPr/>
          <p:nvPr/>
        </p:nvSpPr>
        <p:spPr bwMode="auto">
          <a:xfrm>
            <a:off x="6915327" y="4912736"/>
            <a:ext cx="792088" cy="1152128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05931F-ADD6-4E94-8319-9AC219E03959}"/>
              </a:ext>
            </a:extLst>
          </p:cNvPr>
          <p:cNvSpPr/>
          <p:nvPr/>
        </p:nvSpPr>
        <p:spPr bwMode="auto">
          <a:xfrm>
            <a:off x="7425928" y="6106897"/>
            <a:ext cx="517475" cy="360040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E-5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3CDD82-3AFA-42FD-B8BB-9114AEB073AD}"/>
              </a:ext>
            </a:extLst>
          </p:cNvPr>
          <p:cNvSpPr/>
          <p:nvPr/>
        </p:nvSpPr>
        <p:spPr bwMode="auto">
          <a:xfrm>
            <a:off x="8299131" y="6093296"/>
            <a:ext cx="517475" cy="360040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E-7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7D5CAD5-567B-48A3-BCF2-CE5AAEE0505A}"/>
              </a:ext>
            </a:extLst>
          </p:cNvPr>
          <p:cNvSpPr/>
          <p:nvPr/>
        </p:nvSpPr>
        <p:spPr bwMode="auto">
          <a:xfrm>
            <a:off x="8025485" y="4456275"/>
            <a:ext cx="517475" cy="360040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I-1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9BE535-ABEA-46BF-A0D4-3DB6AEBCFFDD}"/>
              </a:ext>
            </a:extLst>
          </p:cNvPr>
          <p:cNvSpPr txBox="1"/>
          <p:nvPr/>
        </p:nvSpPr>
        <p:spPr>
          <a:xfrm>
            <a:off x="7163972" y="4205625"/>
            <a:ext cx="14717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 more information [INTERNAL]</a:t>
            </a:r>
            <a:endParaRPr lang="en-CA" sz="105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DD1FAC-3C64-4B7F-B6C8-A9E6C40FCFE7}"/>
              </a:ext>
            </a:extLst>
          </p:cNvPr>
          <p:cNvSpPr txBox="1"/>
          <p:nvPr/>
        </p:nvSpPr>
        <p:spPr>
          <a:xfrm>
            <a:off x="7884369" y="6460075"/>
            <a:ext cx="127106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Your Loan has not been approved</a:t>
            </a:r>
            <a:endParaRPr lang="en-CA" sz="105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662308-60A2-42E3-B52D-6C0ADEC13535}"/>
              </a:ext>
            </a:extLst>
          </p:cNvPr>
          <p:cNvSpPr txBox="1"/>
          <p:nvPr/>
        </p:nvSpPr>
        <p:spPr>
          <a:xfrm>
            <a:off x="6495782" y="6218878"/>
            <a:ext cx="10550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Your Loan has been approved</a:t>
            </a:r>
            <a:endParaRPr lang="en-CA" sz="105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529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6DE5587-0791-44A2-A546-C379BF5CA944}"/>
              </a:ext>
            </a:extLst>
          </p:cNvPr>
          <p:cNvSpPr/>
          <p:nvPr/>
        </p:nvSpPr>
        <p:spPr bwMode="auto">
          <a:xfrm>
            <a:off x="323528" y="1124744"/>
            <a:ext cx="864096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C-12.1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F22BB-FC56-4EFA-916C-D5F17930D070}"/>
              </a:ext>
            </a:extLst>
          </p:cNvPr>
          <p:cNvSpPr txBox="1"/>
          <p:nvPr/>
        </p:nvSpPr>
        <p:spPr>
          <a:xfrm>
            <a:off x="323528" y="1379431"/>
            <a:ext cx="1296144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TERMINAL</a:t>
            </a:r>
            <a:endParaRPr lang="en-CA" sz="1050" b="1" dirty="0">
              <a:solidFill>
                <a:schemeClr val="bg1"/>
              </a:solidFill>
            </a:endParaRPr>
          </a:p>
        </p:txBody>
      </p:sp>
      <p:pic>
        <p:nvPicPr>
          <p:cNvPr id="7" name="Picture 2" descr="Image result for mail">
            <a:extLst>
              <a:ext uri="{FF2B5EF4-FFF2-40B4-BE49-F238E27FC236}">
                <a16:creationId xmlns:a16="http://schemas.microsoft.com/office/drawing/2014/main" id="{0A2F2FF9-4266-49BA-9695-EA98AA95F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912813"/>
            <a:ext cx="1471757" cy="151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EC87C4C-DF59-418D-882C-C933EFBF9623}"/>
              </a:ext>
            </a:extLst>
          </p:cNvPr>
          <p:cNvSpPr/>
          <p:nvPr/>
        </p:nvSpPr>
        <p:spPr bwMode="auto">
          <a:xfrm>
            <a:off x="3707904" y="2128837"/>
            <a:ext cx="792088" cy="1152128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988E46-24A4-4C9A-A0AE-E0A91B45355D}"/>
              </a:ext>
            </a:extLst>
          </p:cNvPr>
          <p:cNvSpPr/>
          <p:nvPr/>
        </p:nvSpPr>
        <p:spPr bwMode="auto">
          <a:xfrm>
            <a:off x="4889326" y="3280965"/>
            <a:ext cx="517475" cy="360040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E-7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6C2484-34C0-45A9-8BFB-D0B543FAF120}"/>
              </a:ext>
            </a:extLst>
          </p:cNvPr>
          <p:cNvSpPr txBox="1"/>
          <p:nvPr/>
        </p:nvSpPr>
        <p:spPr>
          <a:xfrm>
            <a:off x="4296847" y="3726052"/>
            <a:ext cx="20036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libri Light" panose="020F0302020204030204" pitchFamily="34" charset="0"/>
                <a:cs typeface="Calibri Light" panose="020F0302020204030204" pitchFamily="34" charset="0"/>
              </a:rPr>
              <a:t>Your Loan has not been approved</a:t>
            </a:r>
            <a:endParaRPr lang="en-CA" sz="105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277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615199-06B8-478B-8B40-974EF3855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47" y="914400"/>
            <a:ext cx="7557907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6DE5587-0791-44A2-A546-C379BF5CA944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C-13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79050-98E7-4A4B-803F-5756888E16BC}"/>
              </a:ext>
            </a:extLst>
          </p:cNvPr>
          <p:cNvSpPr txBox="1"/>
          <p:nvPr/>
        </p:nvSpPr>
        <p:spPr>
          <a:xfrm>
            <a:off x="323528" y="1433681"/>
            <a:ext cx="1872208" cy="41549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Customer LOGS back in</a:t>
            </a:r>
          </a:p>
          <a:p>
            <a:r>
              <a:rPr lang="en-US" sz="1050" b="1" dirty="0"/>
              <a:t>(from EMAIL)</a:t>
            </a:r>
          </a:p>
        </p:txBody>
      </p:sp>
      <p:pic>
        <p:nvPicPr>
          <p:cNvPr id="6" name="Picture 2" descr="Image result for mail">
            <a:extLst>
              <a:ext uri="{FF2B5EF4-FFF2-40B4-BE49-F238E27FC236}">
                <a16:creationId xmlns:a16="http://schemas.microsoft.com/office/drawing/2014/main" id="{722D0280-31E6-4113-A836-EFB400DF5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759" y="99156"/>
            <a:ext cx="1471757" cy="151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D7E3B14-A273-4DF3-88DE-63DBA1E6A06B}"/>
              </a:ext>
            </a:extLst>
          </p:cNvPr>
          <p:cNvSpPr/>
          <p:nvPr/>
        </p:nvSpPr>
        <p:spPr bwMode="auto">
          <a:xfrm rot="10800000">
            <a:off x="8350953" y="0"/>
            <a:ext cx="792088" cy="1152128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C4C324-3B2A-4CC2-80D8-081DD863545E}"/>
              </a:ext>
            </a:extLst>
          </p:cNvPr>
          <p:cNvSpPr/>
          <p:nvPr/>
        </p:nvSpPr>
        <p:spPr bwMode="auto">
          <a:xfrm>
            <a:off x="8278491" y="1495740"/>
            <a:ext cx="517475" cy="360040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E-5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9E94E-1824-4902-A2D0-7741D9A38E3C}"/>
              </a:ext>
            </a:extLst>
          </p:cNvPr>
          <p:cNvSpPr txBox="1"/>
          <p:nvPr/>
        </p:nvSpPr>
        <p:spPr>
          <a:xfrm>
            <a:off x="2483768" y="374961"/>
            <a:ext cx="3528392" cy="25391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Congratulations</a:t>
            </a:r>
          </a:p>
        </p:txBody>
      </p:sp>
    </p:spTree>
    <p:extLst>
      <p:ext uri="{BB962C8B-B14F-4D97-AF65-F5344CB8AC3E}">
        <p14:creationId xmlns:p14="http://schemas.microsoft.com/office/powerpoint/2010/main" val="97776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615199-06B8-478B-8B40-974EF3855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47" y="857250"/>
            <a:ext cx="7557907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6DE5587-0791-44A2-A546-C379BF5CA944}"/>
              </a:ext>
            </a:extLst>
          </p:cNvPr>
          <p:cNvSpPr/>
          <p:nvPr/>
        </p:nvSpPr>
        <p:spPr bwMode="auto">
          <a:xfrm>
            <a:off x="323528" y="1124744"/>
            <a:ext cx="720080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C-13.1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" name="Picture 5" descr="Image result for hellosign">
            <a:extLst>
              <a:ext uri="{FF2B5EF4-FFF2-40B4-BE49-F238E27FC236}">
                <a16:creationId xmlns:a16="http://schemas.microsoft.com/office/drawing/2014/main" id="{AA243B50-E423-40A0-95E0-44E24B9189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1" t="20283" r="10863" b="9491"/>
          <a:stretch/>
        </p:blipFill>
        <p:spPr bwMode="auto">
          <a:xfrm>
            <a:off x="3347864" y="2420888"/>
            <a:ext cx="4824536" cy="2344744"/>
          </a:xfrm>
          <a:prstGeom prst="rect">
            <a:avLst/>
          </a:prstGeom>
          <a:noFill/>
          <a:effectLst>
            <a:glow rad="127000">
              <a:srgbClr val="FFC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577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3BA5B5-54A2-4CF0-AA9F-E4B867850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0" y="857250"/>
            <a:ext cx="890564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71CF22F-52B1-47F5-B21F-7C9807D7647E}"/>
              </a:ext>
            </a:extLst>
          </p:cNvPr>
          <p:cNvSpPr/>
          <p:nvPr/>
        </p:nvSpPr>
        <p:spPr bwMode="auto">
          <a:xfrm>
            <a:off x="323528" y="1124744"/>
            <a:ext cx="648072" cy="2880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latin typeface="Arial" charset="0"/>
              </a:rPr>
              <a:t>C-14</a:t>
            </a:r>
            <a:endParaRPr kumimoji="0" lang="en-C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560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3FF20-89BD-46DE-989F-8121AE0C1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931" y="1325331"/>
            <a:ext cx="3483937" cy="21036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End</a:t>
            </a:r>
            <a:br>
              <a:rPr lang="en-US" sz="4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200" b="1" kern="1200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18115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6547DD-2CE0-4C30-998D-2190DD6B5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36" y="1606459"/>
            <a:ext cx="3035882" cy="22769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15546A6-E45B-4EBF-A22B-3D402A0AD8FC}"/>
              </a:ext>
            </a:extLst>
          </p:cNvPr>
          <p:cNvSpPr txBox="1"/>
          <p:nvPr/>
        </p:nvSpPr>
        <p:spPr>
          <a:xfrm>
            <a:off x="5148064" y="2780928"/>
            <a:ext cx="1892398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CUSTOMER TERMINAL</a:t>
            </a:r>
            <a:endParaRPr lang="en-CA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701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3FF20-89BD-46DE-989F-8121AE0C1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931" y="1325331"/>
            <a:ext cx="3483937" cy="21036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200" b="1" kern="1200" dirty="0">
                <a:solidFill>
                  <a:schemeClr val="bg1"/>
                </a:solidFill>
              </a:rPr>
              <a:t>Funding</a:t>
            </a:r>
            <a:r>
              <a:rPr lang="en-US" sz="4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4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200" b="1" kern="1200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18115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Picture 2" descr="Image result for mail">
            <a:extLst>
              <a:ext uri="{FF2B5EF4-FFF2-40B4-BE49-F238E27FC236}">
                <a16:creationId xmlns:a16="http://schemas.microsoft.com/office/drawing/2014/main" id="{5935FBAF-1153-463C-861A-163BB48CF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379" y="3996238"/>
            <a:ext cx="1471757" cy="151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F2FDB4A4-ABBA-4FCE-B50E-2894B54D9F43}"/>
              </a:ext>
            </a:extLst>
          </p:cNvPr>
          <p:cNvSpPr/>
          <p:nvPr/>
        </p:nvSpPr>
        <p:spPr bwMode="auto">
          <a:xfrm>
            <a:off x="6922307" y="4212262"/>
            <a:ext cx="792088" cy="1152128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60D4A29-0D43-4306-8BCD-D6AA0FC7F2E3}"/>
              </a:ext>
            </a:extLst>
          </p:cNvPr>
          <p:cNvSpPr/>
          <p:nvPr/>
        </p:nvSpPr>
        <p:spPr bwMode="auto">
          <a:xfrm>
            <a:off x="8103729" y="5364390"/>
            <a:ext cx="517475" cy="360040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I-2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B8D876-E3EC-4FC9-BB6C-75547723D553}"/>
              </a:ext>
            </a:extLst>
          </p:cNvPr>
          <p:cNvSpPr txBox="1"/>
          <p:nvPr/>
        </p:nvSpPr>
        <p:spPr>
          <a:xfrm>
            <a:off x="7278449" y="5724430"/>
            <a:ext cx="17040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Signed loan agreement + info on loan proceeds wen funded [INTERNAL – within 1 – 3days]</a:t>
            </a:r>
            <a:endParaRPr lang="en-CA" sz="105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5546A6-E45B-4EBF-A22B-3D402A0AD8FC}"/>
              </a:ext>
            </a:extLst>
          </p:cNvPr>
          <p:cNvSpPr txBox="1"/>
          <p:nvPr/>
        </p:nvSpPr>
        <p:spPr>
          <a:xfrm>
            <a:off x="5148064" y="2780928"/>
            <a:ext cx="1892398" cy="415498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ADMIN TERMINAL</a:t>
            </a:r>
          </a:p>
          <a:p>
            <a:r>
              <a:rPr lang="en-US" sz="1050" b="1" dirty="0">
                <a:solidFill>
                  <a:schemeClr val="bg1"/>
                </a:solidFill>
              </a:rPr>
              <a:t>[Credit Ops]</a:t>
            </a:r>
            <a:endParaRPr lang="en-CA" sz="1050" b="1" dirty="0">
              <a:solidFill>
                <a:schemeClr val="bg1"/>
              </a:solidFill>
            </a:endParaRPr>
          </a:p>
        </p:txBody>
      </p:sp>
      <p:pic>
        <p:nvPicPr>
          <p:cNvPr id="11272" name="Picture 8" descr="Image result for dollar sign">
            <a:extLst>
              <a:ext uri="{FF2B5EF4-FFF2-40B4-BE49-F238E27FC236}">
                <a16:creationId xmlns:a16="http://schemas.microsoft.com/office/drawing/2014/main" id="{5B4092F7-E069-4E27-AD86-FBD336301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36712"/>
            <a:ext cx="2181290" cy="290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021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6E473-01FB-4E24-9F44-71231B9AE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212976"/>
            <a:ext cx="7772400" cy="1362075"/>
          </a:xfrm>
        </p:spPr>
        <p:txBody>
          <a:bodyPr/>
          <a:lstStyle/>
          <a:p>
            <a:pPr algn="r"/>
            <a:r>
              <a:rPr lang="en-US" dirty="0"/>
              <a:t>Fulfillment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6177E-8EE5-4AD5-BE30-0F9EE53EE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B6A11-E962-4A67-B102-CF54088B8F0A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259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CC518-8A7E-44D4-828D-3F8D40792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B6A11-E962-4A67-B102-CF54088B8F0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9F29F1-4325-4896-AE95-B9F43D18E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5707"/>
            <a:ext cx="9144000" cy="53516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71E013-46E4-4658-AC4B-63263238939E}"/>
              </a:ext>
            </a:extLst>
          </p:cNvPr>
          <p:cNvSpPr txBox="1"/>
          <p:nvPr/>
        </p:nvSpPr>
        <p:spPr>
          <a:xfrm>
            <a:off x="107504" y="292006"/>
            <a:ext cx="401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ADMIN FLOW </a:t>
            </a:r>
          </a:p>
        </p:txBody>
      </p:sp>
    </p:spTree>
    <p:extLst>
      <p:ext uri="{BB962C8B-B14F-4D97-AF65-F5344CB8AC3E}">
        <p14:creationId xmlns:p14="http://schemas.microsoft.com/office/powerpoint/2010/main" val="2521700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28F8B0D-51AD-44DC-8400-22016C051687}"/>
              </a:ext>
            </a:extLst>
          </p:cNvPr>
          <p:cNvSpPr txBox="1"/>
          <p:nvPr/>
        </p:nvSpPr>
        <p:spPr>
          <a:xfrm>
            <a:off x="1787836" y="2132856"/>
            <a:ext cx="4439875" cy="544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lstStyle/>
          <a:p>
            <a:r>
              <a:rPr lang="en-US" sz="1050" b="1" dirty="0"/>
              <a:t>REJECTED</a:t>
            </a:r>
          </a:p>
          <a:p>
            <a:r>
              <a:rPr lang="en-US" sz="1050" b="1" dirty="0"/>
              <a:t>Failed: </a:t>
            </a:r>
            <a:r>
              <a:rPr lang="en-US" sz="1050" b="1" dirty="0" err="1"/>
              <a:t>eID</a:t>
            </a:r>
            <a:r>
              <a:rPr lang="en-US" sz="1050" b="1" dirty="0"/>
              <a:t>, CB or Decision Engine</a:t>
            </a:r>
          </a:p>
          <a:p>
            <a:r>
              <a:rPr lang="en-US" sz="1050" b="1" dirty="0"/>
              <a:t>N/A</a:t>
            </a:r>
            <a:endParaRPr lang="en-CA" sz="105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97916A-5390-45AA-898E-041004274F12}"/>
              </a:ext>
            </a:extLst>
          </p:cNvPr>
          <p:cNvSpPr txBox="1"/>
          <p:nvPr/>
        </p:nvSpPr>
        <p:spPr>
          <a:xfrm>
            <a:off x="1788309" y="2740858"/>
            <a:ext cx="4439875" cy="544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lstStyle/>
          <a:p>
            <a:r>
              <a:rPr lang="en-US" sz="1050" b="1" dirty="0"/>
              <a:t>INCOMPLETE</a:t>
            </a:r>
          </a:p>
          <a:p>
            <a:r>
              <a:rPr lang="en-US" sz="1050" b="1" dirty="0"/>
              <a:t>“In between” applications</a:t>
            </a:r>
          </a:p>
          <a:p>
            <a:r>
              <a:rPr lang="en-US" sz="1050" b="1" dirty="0"/>
              <a:t>N/A</a:t>
            </a:r>
            <a:endParaRPr lang="en-CA" sz="1050" b="1" dirty="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37536D0A-8D3E-4580-8AD6-3FA0E8E23505}"/>
              </a:ext>
            </a:extLst>
          </p:cNvPr>
          <p:cNvSpPr/>
          <p:nvPr/>
        </p:nvSpPr>
        <p:spPr bwMode="auto">
          <a:xfrm>
            <a:off x="3346067" y="3446803"/>
            <a:ext cx="1436012" cy="1386805"/>
          </a:xfrm>
          <a:prstGeom prst="homePlat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APPROVED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[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RCSC]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2 days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F0D1B29B-F817-41A8-887A-5E5A75DB6245}"/>
              </a:ext>
            </a:extLst>
          </p:cNvPr>
          <p:cNvSpPr/>
          <p:nvPr/>
        </p:nvSpPr>
        <p:spPr bwMode="auto">
          <a:xfrm>
            <a:off x="1799556" y="3446803"/>
            <a:ext cx="1436012" cy="1386805"/>
          </a:xfrm>
          <a:prstGeom prst="homePlat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REVIEW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[FRAUD]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 days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EFDB9070-A8AC-49E7-905D-162E00954FFF}"/>
              </a:ext>
            </a:extLst>
          </p:cNvPr>
          <p:cNvSpPr/>
          <p:nvPr/>
        </p:nvSpPr>
        <p:spPr bwMode="auto">
          <a:xfrm>
            <a:off x="4892578" y="3428150"/>
            <a:ext cx="1436012" cy="1386805"/>
          </a:xfrm>
          <a:prstGeom prst="homePlat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FUNDING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Arial" charset="0"/>
              </a:rPr>
              <a:t>[Credit Ops]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2-3 days</a:t>
            </a: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F56260-AB7C-49B8-8BCB-DBB0FAC290A2}"/>
              </a:ext>
            </a:extLst>
          </p:cNvPr>
          <p:cNvSpPr txBox="1"/>
          <p:nvPr/>
        </p:nvSpPr>
        <p:spPr>
          <a:xfrm>
            <a:off x="6439088" y="3446803"/>
            <a:ext cx="1223663" cy="136815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sz="1050" b="1" dirty="0"/>
              <a:t>COMPLETE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89B394-8C77-44FB-9B5F-98ADEA9C38C5}"/>
              </a:ext>
            </a:extLst>
          </p:cNvPr>
          <p:cNvSpPr txBox="1"/>
          <p:nvPr/>
        </p:nvSpPr>
        <p:spPr>
          <a:xfrm>
            <a:off x="6404862" y="2132856"/>
            <a:ext cx="1243164" cy="1152128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no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HARD STOP</a:t>
            </a:r>
            <a:endParaRPr lang="en-CA" sz="11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C3A0D6-F0A4-4C33-8F96-6EB9334DC460}"/>
              </a:ext>
            </a:extLst>
          </p:cNvPr>
          <p:cNvSpPr txBox="1"/>
          <p:nvPr/>
        </p:nvSpPr>
        <p:spPr>
          <a:xfrm>
            <a:off x="107504" y="292006"/>
            <a:ext cx="401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QUEUES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5A700-1E0D-4A1E-9DD2-78D71C2E7241}"/>
              </a:ext>
            </a:extLst>
          </p:cNvPr>
          <p:cNvSpPr txBox="1"/>
          <p:nvPr/>
        </p:nvSpPr>
        <p:spPr>
          <a:xfrm>
            <a:off x="107503" y="638491"/>
            <a:ext cx="4016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based on application status</a:t>
            </a:r>
          </a:p>
        </p:txBody>
      </p:sp>
    </p:spTree>
    <p:extLst>
      <p:ext uri="{BB962C8B-B14F-4D97-AF65-F5344CB8AC3E}">
        <p14:creationId xmlns:p14="http://schemas.microsoft.com/office/powerpoint/2010/main" val="2566332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5D20927-6F1B-4120-95D1-1A86C67A50DD}"/>
              </a:ext>
            </a:extLst>
          </p:cNvPr>
          <p:cNvGraphicFramePr/>
          <p:nvPr>
            <p:extLst/>
          </p:nvPr>
        </p:nvGraphicFramePr>
        <p:xfrm>
          <a:off x="636494" y="1011517"/>
          <a:ext cx="7548282" cy="4914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BF2BFBD-FB2E-476C-9F35-0CE8ABB38203}"/>
              </a:ext>
            </a:extLst>
          </p:cNvPr>
          <p:cNvSpPr txBox="1"/>
          <p:nvPr/>
        </p:nvSpPr>
        <p:spPr>
          <a:xfrm>
            <a:off x="179512" y="116632"/>
            <a:ext cx="2904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Queues</a:t>
            </a:r>
          </a:p>
        </p:txBody>
      </p:sp>
    </p:spTree>
    <p:extLst>
      <p:ext uri="{BB962C8B-B14F-4D97-AF65-F5344CB8AC3E}">
        <p14:creationId xmlns:p14="http://schemas.microsoft.com/office/powerpoint/2010/main" val="3027779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470F67B-E32F-4F1F-9A41-E31FC2262FBD}"/>
              </a:ext>
            </a:extLst>
          </p:cNvPr>
          <p:cNvSpPr/>
          <p:nvPr/>
        </p:nvSpPr>
        <p:spPr>
          <a:xfrm>
            <a:off x="1252051" y="1740861"/>
            <a:ext cx="1807780" cy="66215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Adjudication</a:t>
            </a:r>
          </a:p>
          <a:p>
            <a:pPr algn="ctr"/>
            <a:r>
              <a:rPr lang="en-US" sz="1400" dirty="0"/>
              <a:t>SLA: 2 Business days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1CEC09-45BC-494D-AEF7-CC7032372B43}"/>
              </a:ext>
            </a:extLst>
          </p:cNvPr>
          <p:cNvSpPr/>
          <p:nvPr/>
        </p:nvSpPr>
        <p:spPr>
          <a:xfrm>
            <a:off x="3059832" y="1196752"/>
            <a:ext cx="4908331" cy="2112134"/>
          </a:xfrm>
          <a:prstGeom prst="rect">
            <a:avLst/>
          </a:prstGeom>
          <a:solidFill>
            <a:srgbClr val="00B05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Responsibilities: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Review the application and proof of income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Prior to Approval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Validate all the data fields in Credit Genie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validate the quality of the documents in admin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transfer to WB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Send an email with the hello sign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Not Accountable: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Funding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D5CE4A-7C15-4330-8AC7-A23DF6E331D8}"/>
              </a:ext>
            </a:extLst>
          </p:cNvPr>
          <p:cNvSpPr/>
          <p:nvPr/>
        </p:nvSpPr>
        <p:spPr>
          <a:xfrm>
            <a:off x="1252051" y="4360687"/>
            <a:ext cx="1807780" cy="662152"/>
          </a:xfrm>
          <a:prstGeom prst="rect">
            <a:avLst/>
          </a:prstGeom>
          <a:solidFill>
            <a:srgbClr val="BC4C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Credit operations</a:t>
            </a:r>
          </a:p>
          <a:p>
            <a:pPr algn="ctr"/>
            <a:r>
              <a:rPr lang="en-US" sz="1400" dirty="0"/>
              <a:t>SLA: 2 -3 Business days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AAD0AF-5085-4559-9D7C-AD9E8A9404B7}"/>
              </a:ext>
            </a:extLst>
          </p:cNvPr>
          <p:cNvSpPr/>
          <p:nvPr/>
        </p:nvSpPr>
        <p:spPr>
          <a:xfrm>
            <a:off x="3059831" y="3639487"/>
            <a:ext cx="4908331" cy="2232078"/>
          </a:xfrm>
          <a:prstGeom prst="rect">
            <a:avLst/>
          </a:prstGeom>
          <a:solidFill>
            <a:srgbClr val="BC4C84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Responsibilities: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Set up the payments in WB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Prior to disbursement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Satisfy all the conditions assigned to the credit ops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Validate all data fields in WB,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confirm all documents have been signed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Complete funding of mortgage for the customer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Not accountable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Direct communication with the customer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3053C8-EB59-40D6-A83A-16B4B90C58AD}"/>
              </a:ext>
            </a:extLst>
          </p:cNvPr>
          <p:cNvSpPr txBox="1"/>
          <p:nvPr/>
        </p:nvSpPr>
        <p:spPr>
          <a:xfrm>
            <a:off x="107504" y="332656"/>
            <a:ext cx="5172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ROLES AND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3812868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537E46-24DF-4129-9BB5-3F713883CFAB}"/>
              </a:ext>
            </a:extLst>
          </p:cNvPr>
          <p:cNvSpPr/>
          <p:nvPr/>
        </p:nvSpPr>
        <p:spPr>
          <a:xfrm>
            <a:off x="1180046" y="2138568"/>
            <a:ext cx="1807780" cy="662152"/>
          </a:xfrm>
          <a:prstGeom prst="rect">
            <a:avLst/>
          </a:prstGeom>
          <a:solidFill>
            <a:srgbClr val="2360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 center</a:t>
            </a:r>
          </a:p>
          <a:p>
            <a:pPr algn="ctr"/>
            <a:r>
              <a:rPr lang="en-US" dirty="0"/>
              <a:t>SLA: N/A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295E2F-0076-412D-9DE3-66836CAF7135}"/>
              </a:ext>
            </a:extLst>
          </p:cNvPr>
          <p:cNvSpPr/>
          <p:nvPr/>
        </p:nvSpPr>
        <p:spPr>
          <a:xfrm>
            <a:off x="2987824" y="1510287"/>
            <a:ext cx="4908331" cy="1918713"/>
          </a:xfrm>
          <a:prstGeom prst="rect">
            <a:avLst/>
          </a:prstGeom>
          <a:solidFill>
            <a:srgbClr val="23608D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Responsibilities: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Answering all the customer quires related to the member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Not Accountable: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F0693-E552-4B42-9484-39E3D4FF9734}"/>
              </a:ext>
            </a:extLst>
          </p:cNvPr>
          <p:cNvSpPr/>
          <p:nvPr/>
        </p:nvSpPr>
        <p:spPr>
          <a:xfrm>
            <a:off x="1180045" y="4062594"/>
            <a:ext cx="1807780" cy="662152"/>
          </a:xfrm>
          <a:prstGeom prst="rect">
            <a:avLst/>
          </a:prstGeom>
          <a:solidFill>
            <a:srgbClr val="BB8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Fraud Team</a:t>
            </a:r>
          </a:p>
          <a:p>
            <a:pPr algn="ctr"/>
            <a:r>
              <a:rPr lang="en-US" dirty="0"/>
              <a:t>SLA: X days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97BE7-8004-408C-8ED4-4DDC1AC4B4B3}"/>
              </a:ext>
            </a:extLst>
          </p:cNvPr>
          <p:cNvSpPr/>
          <p:nvPr/>
        </p:nvSpPr>
        <p:spPr>
          <a:xfrm>
            <a:off x="2987825" y="3925622"/>
            <a:ext cx="4908331" cy="877048"/>
          </a:xfrm>
          <a:prstGeom prst="rect">
            <a:avLst/>
          </a:prstGeom>
          <a:solidFill>
            <a:srgbClr val="BB844D">
              <a:alpha val="4274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Responsibilities:</a:t>
            </a: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Reviewing the applications in the rejected / review queue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Customer interaction (if required)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Providing the decision from a fraud perspective </a:t>
            </a:r>
          </a:p>
        </p:txBody>
      </p:sp>
    </p:spTree>
    <p:extLst>
      <p:ext uri="{BB962C8B-B14F-4D97-AF65-F5344CB8AC3E}">
        <p14:creationId xmlns:p14="http://schemas.microsoft.com/office/powerpoint/2010/main" val="22501578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6E473-01FB-4E24-9F44-71231B9AE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212976"/>
            <a:ext cx="7772400" cy="1362075"/>
          </a:xfrm>
        </p:spPr>
        <p:txBody>
          <a:bodyPr/>
          <a:lstStyle/>
          <a:p>
            <a:pPr algn="r"/>
            <a:r>
              <a:rPr lang="en-US" dirty="0"/>
              <a:t>Appendix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6177E-8EE5-4AD5-BE30-0F9EE53EE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B6A11-E962-4A67-B102-CF54088B8F0A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512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E48A6-5D49-4AAB-86FE-3603CFDF3F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B6A11-E962-4A67-B102-CF54088B8F0A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5F06B8-4396-4975-815B-4B03AFF9C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752" y="620688"/>
            <a:ext cx="4392488" cy="648072"/>
          </a:xfrm>
        </p:spPr>
        <p:txBody>
          <a:bodyPr/>
          <a:lstStyle/>
          <a:p>
            <a:r>
              <a:rPr lang="en-US" dirty="0"/>
              <a:t>List of Emails</a:t>
            </a:r>
            <a:endParaRPr lang="en-CA" dirty="0"/>
          </a:p>
        </p:txBody>
      </p:sp>
      <p:pic>
        <p:nvPicPr>
          <p:cNvPr id="7" name="Picture 2" descr="Image result for mail">
            <a:extLst>
              <a:ext uri="{FF2B5EF4-FFF2-40B4-BE49-F238E27FC236}">
                <a16:creationId xmlns:a16="http://schemas.microsoft.com/office/drawing/2014/main" id="{A3B55628-F586-4907-90BB-938BE920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4780"/>
            <a:ext cx="1471757" cy="151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C50F7D2-8179-46F1-BD44-990302C1015C}"/>
              </a:ext>
            </a:extLst>
          </p:cNvPr>
          <p:cNvSpPr/>
          <p:nvPr/>
        </p:nvSpPr>
        <p:spPr bwMode="auto">
          <a:xfrm>
            <a:off x="107504" y="240804"/>
            <a:ext cx="792088" cy="1152128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99E3E0-F3AD-488F-8305-4FBC0E15569A}"/>
              </a:ext>
            </a:extLst>
          </p:cNvPr>
          <p:cNvSpPr/>
          <p:nvPr/>
        </p:nvSpPr>
        <p:spPr bwMode="auto">
          <a:xfrm>
            <a:off x="1288926" y="1392932"/>
            <a:ext cx="517475" cy="360040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16796BE-CB2D-4CD5-8B09-562044CF2B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723612"/>
              </p:ext>
            </p:extLst>
          </p:nvPr>
        </p:nvGraphicFramePr>
        <p:xfrm>
          <a:off x="503548" y="1916832"/>
          <a:ext cx="8266022" cy="3689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" name="Worksheet" r:id="rId4" imgW="11544435" imgH="5152852" progId="Excel.Sheet.12">
                  <p:embed/>
                </p:oleObj>
              </mc:Choice>
              <mc:Fallback>
                <p:oleObj name="Worksheet" r:id="rId4" imgW="11544435" imgH="51528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3548" y="1916832"/>
                        <a:ext cx="8266022" cy="3689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4189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41B346-D7FC-4AD6-AEB3-DE168DB3D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9CDCD5-433C-4501-A685-41691C0AFBBF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D1592E-5F40-4820-8392-D84D7CD5D88C}"/>
              </a:ext>
            </a:extLst>
          </p:cNvPr>
          <p:cNvSpPr txBox="1"/>
          <p:nvPr/>
        </p:nvSpPr>
        <p:spPr>
          <a:xfrm>
            <a:off x="179388" y="428862"/>
            <a:ext cx="2746344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Integration View</a:t>
            </a:r>
            <a:endParaRPr lang="en-CA" sz="1400" b="1" dirty="0"/>
          </a:p>
        </p:txBody>
      </p:sp>
      <p:sp>
        <p:nvSpPr>
          <p:cNvPr id="57" name="Arrow: Pentagon 56">
            <a:extLst>
              <a:ext uri="{FF2B5EF4-FFF2-40B4-BE49-F238E27FC236}">
                <a16:creationId xmlns:a16="http://schemas.microsoft.com/office/drawing/2014/main" id="{C2EBBF81-DD9A-47EA-8436-A2B7ADF19742}"/>
              </a:ext>
            </a:extLst>
          </p:cNvPr>
          <p:cNvSpPr/>
          <p:nvPr/>
        </p:nvSpPr>
        <p:spPr>
          <a:xfrm>
            <a:off x="290126" y="3372836"/>
            <a:ext cx="1194043" cy="659542"/>
          </a:xfrm>
          <a:prstGeom prst="homePlat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 input personal and application details</a:t>
            </a:r>
            <a:endParaRPr kumimoji="0" lang="en-CA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Arrow: Chevron 58">
            <a:extLst>
              <a:ext uri="{FF2B5EF4-FFF2-40B4-BE49-F238E27FC236}">
                <a16:creationId xmlns:a16="http://schemas.microsoft.com/office/drawing/2014/main" id="{11CEF007-0489-4782-90D6-E3E95D4A2A83}"/>
              </a:ext>
            </a:extLst>
          </p:cNvPr>
          <p:cNvSpPr/>
          <p:nvPr/>
        </p:nvSpPr>
        <p:spPr>
          <a:xfrm>
            <a:off x="1192740" y="3373803"/>
            <a:ext cx="1194043" cy="659542"/>
          </a:xfrm>
          <a:prstGeom prst="chevron">
            <a:avLst/>
          </a:prstGeom>
          <a:solidFill>
            <a:srgbClr val="70AD47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eID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Verifier</a:t>
            </a:r>
            <a:endParaRPr kumimoji="0" lang="en-CA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48852F03-7E1C-47F1-8E16-DCD4E32E396C}"/>
              </a:ext>
            </a:extLst>
          </p:cNvPr>
          <p:cNvSpPr/>
          <p:nvPr/>
        </p:nvSpPr>
        <p:spPr>
          <a:xfrm>
            <a:off x="2095354" y="3372836"/>
            <a:ext cx="1057331" cy="659542"/>
          </a:xfrm>
          <a:prstGeom prst="chevron">
            <a:avLst/>
          </a:prstGeom>
          <a:solidFill>
            <a:srgbClr val="70AD47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Flinks</a:t>
            </a:r>
            <a:endParaRPr kumimoji="0" lang="en-CA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Arrow: Chevron 60">
            <a:extLst>
              <a:ext uri="{FF2B5EF4-FFF2-40B4-BE49-F238E27FC236}">
                <a16:creationId xmlns:a16="http://schemas.microsoft.com/office/drawing/2014/main" id="{BEEB6427-FCCC-4A55-A0E9-23DEE5F033ED}"/>
              </a:ext>
            </a:extLst>
          </p:cNvPr>
          <p:cNvSpPr/>
          <p:nvPr/>
        </p:nvSpPr>
        <p:spPr>
          <a:xfrm>
            <a:off x="2861256" y="3372836"/>
            <a:ext cx="1194043" cy="659542"/>
          </a:xfrm>
          <a:prstGeom prst="chevron">
            <a:avLst/>
          </a:prstGeom>
          <a:solidFill>
            <a:srgbClr val="70AD47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CB Soft Pull</a:t>
            </a:r>
            <a:endParaRPr kumimoji="0" lang="en-CA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CBBE5D39-DCFD-4613-BC2F-541DD3DAB6CE}"/>
              </a:ext>
            </a:extLst>
          </p:cNvPr>
          <p:cNvSpPr/>
          <p:nvPr/>
        </p:nvSpPr>
        <p:spPr>
          <a:xfrm>
            <a:off x="3763870" y="3372836"/>
            <a:ext cx="1184221" cy="659542"/>
          </a:xfrm>
          <a:prstGeom prst="chevron">
            <a:avLst/>
          </a:prstGeom>
          <a:solidFill>
            <a:srgbClr val="70AD47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Decision Engine</a:t>
            </a:r>
            <a:endParaRPr kumimoji="0" lang="en-CA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Arrow: Chevron 62">
            <a:extLst>
              <a:ext uri="{FF2B5EF4-FFF2-40B4-BE49-F238E27FC236}">
                <a16:creationId xmlns:a16="http://schemas.microsoft.com/office/drawing/2014/main" id="{3361383C-6DD7-4598-BC75-B807B6790F19}"/>
              </a:ext>
            </a:extLst>
          </p:cNvPr>
          <p:cNvSpPr/>
          <p:nvPr/>
        </p:nvSpPr>
        <p:spPr>
          <a:xfrm>
            <a:off x="4653668" y="3372836"/>
            <a:ext cx="1322507" cy="659542"/>
          </a:xfrm>
          <a:prstGeom prst="chevron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Underwrite</a:t>
            </a:r>
            <a:endParaRPr kumimoji="0" lang="en-CA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Arrow: Chevron 63">
            <a:extLst>
              <a:ext uri="{FF2B5EF4-FFF2-40B4-BE49-F238E27FC236}">
                <a16:creationId xmlns:a16="http://schemas.microsoft.com/office/drawing/2014/main" id="{6D17CF7F-3677-45C6-807D-16D3593D7E6F}"/>
              </a:ext>
            </a:extLst>
          </p:cNvPr>
          <p:cNvSpPr/>
          <p:nvPr/>
        </p:nvSpPr>
        <p:spPr>
          <a:xfrm>
            <a:off x="6580532" y="3372836"/>
            <a:ext cx="1322507" cy="659542"/>
          </a:xfrm>
          <a:prstGeom prst="chevron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Fund</a:t>
            </a:r>
            <a:endParaRPr kumimoji="0" lang="en-CA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Arrow: Chevron 64">
            <a:extLst>
              <a:ext uri="{FF2B5EF4-FFF2-40B4-BE49-F238E27FC236}">
                <a16:creationId xmlns:a16="http://schemas.microsoft.com/office/drawing/2014/main" id="{A90C4ADF-7C74-43C6-96A4-FB50292F2527}"/>
              </a:ext>
            </a:extLst>
          </p:cNvPr>
          <p:cNvSpPr/>
          <p:nvPr/>
        </p:nvSpPr>
        <p:spPr>
          <a:xfrm>
            <a:off x="7611610" y="3372836"/>
            <a:ext cx="1439367" cy="659542"/>
          </a:xfrm>
          <a:prstGeom prst="chevron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Close</a:t>
            </a:r>
            <a:endParaRPr kumimoji="0" lang="en-CA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Diamond 65">
            <a:extLst>
              <a:ext uri="{FF2B5EF4-FFF2-40B4-BE49-F238E27FC236}">
                <a16:creationId xmlns:a16="http://schemas.microsoft.com/office/drawing/2014/main" id="{A997D7E2-859E-4D9B-A21B-AEC66272C1C8}"/>
              </a:ext>
            </a:extLst>
          </p:cNvPr>
          <p:cNvSpPr/>
          <p:nvPr/>
        </p:nvSpPr>
        <p:spPr>
          <a:xfrm>
            <a:off x="354732" y="3203573"/>
            <a:ext cx="197943" cy="161784"/>
          </a:xfrm>
          <a:prstGeom prst="diamond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CA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Arrow: Chevron 66">
            <a:extLst>
              <a:ext uri="{FF2B5EF4-FFF2-40B4-BE49-F238E27FC236}">
                <a16:creationId xmlns:a16="http://schemas.microsoft.com/office/drawing/2014/main" id="{27A1FCF2-1512-4883-B82C-D93B6DC15B68}"/>
              </a:ext>
            </a:extLst>
          </p:cNvPr>
          <p:cNvSpPr/>
          <p:nvPr/>
        </p:nvSpPr>
        <p:spPr>
          <a:xfrm>
            <a:off x="5685222" y="3372836"/>
            <a:ext cx="1184221" cy="659542"/>
          </a:xfrm>
          <a:prstGeom prst="chevron">
            <a:avLst/>
          </a:prstGeom>
          <a:solidFill>
            <a:srgbClr val="70AD47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</a:t>
            </a:r>
            <a:endParaRPr kumimoji="0" lang="en-CA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8" name="Picture 4" descr="image005">
            <a:extLst>
              <a:ext uri="{FF2B5EF4-FFF2-40B4-BE49-F238E27FC236}">
                <a16:creationId xmlns:a16="http://schemas.microsoft.com/office/drawing/2014/main" id="{BB5F4EC8-7857-4243-9A64-D34D38A26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39" y="4661516"/>
            <a:ext cx="2463053" cy="1689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Picture 1" descr="image001">
            <a:extLst>
              <a:ext uri="{FF2B5EF4-FFF2-40B4-BE49-F238E27FC236}">
                <a16:creationId xmlns:a16="http://schemas.microsoft.com/office/drawing/2014/main" id="{75DA0745-23C2-418F-96C5-7010E5311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70" r="9929" b="12058"/>
          <a:stretch/>
        </p:blipFill>
        <p:spPr bwMode="auto">
          <a:xfrm>
            <a:off x="158850" y="1314320"/>
            <a:ext cx="2993835" cy="155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Hexagon 69">
            <a:extLst>
              <a:ext uri="{FF2B5EF4-FFF2-40B4-BE49-F238E27FC236}">
                <a16:creationId xmlns:a16="http://schemas.microsoft.com/office/drawing/2014/main" id="{D95E2B29-C49C-4F19-A89E-491FB09AD1CC}"/>
              </a:ext>
            </a:extLst>
          </p:cNvPr>
          <p:cNvSpPr/>
          <p:nvPr/>
        </p:nvSpPr>
        <p:spPr>
          <a:xfrm>
            <a:off x="1572863" y="3862513"/>
            <a:ext cx="443620" cy="160812"/>
          </a:xfrm>
          <a:prstGeom prst="hexagon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</a:t>
            </a:r>
            <a:endParaRPr kumimoji="0" lang="en-CA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Hexagon 70">
            <a:extLst>
              <a:ext uri="{FF2B5EF4-FFF2-40B4-BE49-F238E27FC236}">
                <a16:creationId xmlns:a16="http://schemas.microsoft.com/office/drawing/2014/main" id="{6C095D6E-6399-4EB2-AEAA-4C75F1AA5620}"/>
              </a:ext>
            </a:extLst>
          </p:cNvPr>
          <p:cNvSpPr/>
          <p:nvPr/>
        </p:nvSpPr>
        <p:spPr>
          <a:xfrm>
            <a:off x="2324851" y="3862513"/>
            <a:ext cx="443620" cy="160812"/>
          </a:xfrm>
          <a:prstGeom prst="hexagon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</a:t>
            </a:r>
            <a:endParaRPr kumimoji="0" lang="en-CA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Hexagon 71">
            <a:extLst>
              <a:ext uri="{FF2B5EF4-FFF2-40B4-BE49-F238E27FC236}">
                <a16:creationId xmlns:a16="http://schemas.microsoft.com/office/drawing/2014/main" id="{6D706AF9-37BC-4B18-B0E4-E9DC5C2823CD}"/>
              </a:ext>
            </a:extLst>
          </p:cNvPr>
          <p:cNvSpPr/>
          <p:nvPr/>
        </p:nvSpPr>
        <p:spPr>
          <a:xfrm>
            <a:off x="3162507" y="3862513"/>
            <a:ext cx="443620" cy="160812"/>
          </a:xfrm>
          <a:prstGeom prst="hexagon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</a:t>
            </a:r>
            <a:endParaRPr kumimoji="0" lang="en-CA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Hexagon 72">
            <a:extLst>
              <a:ext uri="{FF2B5EF4-FFF2-40B4-BE49-F238E27FC236}">
                <a16:creationId xmlns:a16="http://schemas.microsoft.com/office/drawing/2014/main" id="{FD05683F-7FB5-49F1-A86C-E511F128B17D}"/>
              </a:ext>
            </a:extLst>
          </p:cNvPr>
          <p:cNvSpPr/>
          <p:nvPr/>
        </p:nvSpPr>
        <p:spPr>
          <a:xfrm>
            <a:off x="4095578" y="3862513"/>
            <a:ext cx="443620" cy="160812"/>
          </a:xfrm>
          <a:prstGeom prst="hexagon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</a:t>
            </a:r>
            <a:endParaRPr kumimoji="0" lang="en-CA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Hexagon 73">
            <a:extLst>
              <a:ext uri="{FF2B5EF4-FFF2-40B4-BE49-F238E27FC236}">
                <a16:creationId xmlns:a16="http://schemas.microsoft.com/office/drawing/2014/main" id="{62462F08-B369-46CA-88EC-9A87CF900607}"/>
              </a:ext>
            </a:extLst>
          </p:cNvPr>
          <p:cNvSpPr/>
          <p:nvPr/>
        </p:nvSpPr>
        <p:spPr>
          <a:xfrm>
            <a:off x="6007504" y="3862513"/>
            <a:ext cx="443620" cy="160812"/>
          </a:xfrm>
          <a:prstGeom prst="hexagon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</a:t>
            </a:r>
            <a:endParaRPr kumimoji="0" lang="en-CA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5" name="Picture 5" descr="Image result for hellosign">
            <a:extLst>
              <a:ext uri="{FF2B5EF4-FFF2-40B4-BE49-F238E27FC236}">
                <a16:creationId xmlns:a16="http://schemas.microsoft.com/office/drawing/2014/main" id="{FBC828A3-DAA7-4C99-8EDA-E83FBABF08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1" t="20283" r="10863" b="9491"/>
          <a:stretch/>
        </p:blipFill>
        <p:spPr bwMode="auto">
          <a:xfrm>
            <a:off x="5753521" y="1330025"/>
            <a:ext cx="3199720" cy="1555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CF74C9-C610-46F2-B18C-ADCDA6A56438}"/>
              </a:ext>
            </a:extLst>
          </p:cNvPr>
          <p:cNvCxnSpPr/>
          <p:nvPr/>
        </p:nvCxnSpPr>
        <p:spPr>
          <a:xfrm>
            <a:off x="1484169" y="3961025"/>
            <a:ext cx="0" cy="589927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B98D573-3C54-4FD1-BA08-2B740245D0F4}"/>
              </a:ext>
            </a:extLst>
          </p:cNvPr>
          <p:cNvCxnSpPr/>
          <p:nvPr/>
        </p:nvCxnSpPr>
        <p:spPr>
          <a:xfrm flipV="1">
            <a:off x="2624019" y="2885102"/>
            <a:ext cx="0" cy="579434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8" name="Diamond 77">
            <a:extLst>
              <a:ext uri="{FF2B5EF4-FFF2-40B4-BE49-F238E27FC236}">
                <a16:creationId xmlns:a16="http://schemas.microsoft.com/office/drawing/2014/main" id="{123D6644-044A-4C74-BB55-354084FA4BD3}"/>
              </a:ext>
            </a:extLst>
          </p:cNvPr>
          <p:cNvSpPr/>
          <p:nvPr/>
        </p:nvSpPr>
        <p:spPr>
          <a:xfrm>
            <a:off x="1292621" y="3203573"/>
            <a:ext cx="197943" cy="161784"/>
          </a:xfrm>
          <a:prstGeom prst="diamond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CA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Diamond 78">
            <a:extLst>
              <a:ext uri="{FF2B5EF4-FFF2-40B4-BE49-F238E27FC236}">
                <a16:creationId xmlns:a16="http://schemas.microsoft.com/office/drawing/2014/main" id="{D555B37E-E9D2-4C77-B10D-4F484A34C697}"/>
              </a:ext>
            </a:extLst>
          </p:cNvPr>
          <p:cNvSpPr/>
          <p:nvPr/>
        </p:nvSpPr>
        <p:spPr>
          <a:xfrm>
            <a:off x="2227099" y="3203573"/>
            <a:ext cx="197943" cy="161784"/>
          </a:xfrm>
          <a:prstGeom prst="diamond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CA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Diamond 79">
            <a:extLst>
              <a:ext uri="{FF2B5EF4-FFF2-40B4-BE49-F238E27FC236}">
                <a16:creationId xmlns:a16="http://schemas.microsoft.com/office/drawing/2014/main" id="{58873E39-CD44-4BD2-BC5F-5DE6FEE0E3A5}"/>
              </a:ext>
            </a:extLst>
          </p:cNvPr>
          <p:cNvSpPr/>
          <p:nvPr/>
        </p:nvSpPr>
        <p:spPr>
          <a:xfrm>
            <a:off x="2977078" y="3203573"/>
            <a:ext cx="197943" cy="161784"/>
          </a:xfrm>
          <a:prstGeom prst="diamond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CA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Diamond 80">
            <a:extLst>
              <a:ext uri="{FF2B5EF4-FFF2-40B4-BE49-F238E27FC236}">
                <a16:creationId xmlns:a16="http://schemas.microsoft.com/office/drawing/2014/main" id="{7D7430A4-3B63-4C6E-8A24-420851E72D74}"/>
              </a:ext>
            </a:extLst>
          </p:cNvPr>
          <p:cNvSpPr/>
          <p:nvPr/>
        </p:nvSpPr>
        <p:spPr>
          <a:xfrm>
            <a:off x="3894306" y="3203573"/>
            <a:ext cx="197943" cy="161784"/>
          </a:xfrm>
          <a:prstGeom prst="diamond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CA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Diamond 81">
            <a:extLst>
              <a:ext uri="{FF2B5EF4-FFF2-40B4-BE49-F238E27FC236}">
                <a16:creationId xmlns:a16="http://schemas.microsoft.com/office/drawing/2014/main" id="{2056C4AA-A900-4315-99FA-4649E3421187}"/>
              </a:ext>
            </a:extLst>
          </p:cNvPr>
          <p:cNvSpPr/>
          <p:nvPr/>
        </p:nvSpPr>
        <p:spPr>
          <a:xfrm>
            <a:off x="4722853" y="3203573"/>
            <a:ext cx="197943" cy="161784"/>
          </a:xfrm>
          <a:prstGeom prst="diamond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CA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Diamond 82">
            <a:extLst>
              <a:ext uri="{FF2B5EF4-FFF2-40B4-BE49-F238E27FC236}">
                <a16:creationId xmlns:a16="http://schemas.microsoft.com/office/drawing/2014/main" id="{F6D3DF3C-CD71-4F62-B354-A44E7384BB5B}"/>
              </a:ext>
            </a:extLst>
          </p:cNvPr>
          <p:cNvSpPr/>
          <p:nvPr/>
        </p:nvSpPr>
        <p:spPr>
          <a:xfrm>
            <a:off x="5694145" y="3203573"/>
            <a:ext cx="197943" cy="161784"/>
          </a:xfrm>
          <a:prstGeom prst="diamond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lang="en-CA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Diamond 83">
            <a:extLst>
              <a:ext uri="{FF2B5EF4-FFF2-40B4-BE49-F238E27FC236}">
                <a16:creationId xmlns:a16="http://schemas.microsoft.com/office/drawing/2014/main" id="{D19D1AD1-1593-449D-BC9F-784E0F601564}"/>
              </a:ext>
            </a:extLst>
          </p:cNvPr>
          <p:cNvSpPr/>
          <p:nvPr/>
        </p:nvSpPr>
        <p:spPr>
          <a:xfrm>
            <a:off x="6739373" y="3203573"/>
            <a:ext cx="197943" cy="161784"/>
          </a:xfrm>
          <a:prstGeom prst="diamond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kumimoji="0" lang="en-CA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Diamond 84">
            <a:extLst>
              <a:ext uri="{FF2B5EF4-FFF2-40B4-BE49-F238E27FC236}">
                <a16:creationId xmlns:a16="http://schemas.microsoft.com/office/drawing/2014/main" id="{2413EAA4-8F81-4384-A2AD-161D44C1791E}"/>
              </a:ext>
            </a:extLst>
          </p:cNvPr>
          <p:cNvSpPr/>
          <p:nvPr/>
        </p:nvSpPr>
        <p:spPr>
          <a:xfrm>
            <a:off x="7705096" y="3203573"/>
            <a:ext cx="197943" cy="161784"/>
          </a:xfrm>
          <a:prstGeom prst="diamond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endParaRPr kumimoji="0" lang="en-CA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FC8E0F7-9F97-4A63-9820-ACA35DE91EF4}"/>
              </a:ext>
            </a:extLst>
          </p:cNvPr>
          <p:cNvCxnSpPr/>
          <p:nvPr/>
        </p:nvCxnSpPr>
        <p:spPr>
          <a:xfrm flipV="1">
            <a:off x="6243896" y="2885102"/>
            <a:ext cx="0" cy="579434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5387190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13926</TotalTime>
  <Words>527</Words>
  <Application>Microsoft Office PowerPoint</Application>
  <PresentationFormat>On-screen Show (4:3)</PresentationFormat>
  <Paragraphs>180</Paragraphs>
  <Slides>39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ＭＳ Ｐゴシック</vt:lpstr>
      <vt:lpstr>Arial</vt:lpstr>
      <vt:lpstr>Calibri</vt:lpstr>
      <vt:lpstr>Calibri Light</vt:lpstr>
      <vt:lpstr>Candara</vt:lpstr>
      <vt:lpstr>times new roman</vt:lpstr>
      <vt:lpstr>Wingdings</vt:lpstr>
      <vt:lpstr>Default Design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Click on Email to validate email address</vt:lpstr>
      <vt:lpstr>PowerPoint Presentation</vt:lpstr>
      <vt:lpstr>PowerPoint Presentation</vt:lpstr>
      <vt:lpstr>eID Verifier</vt:lpstr>
      <vt:lpstr>PowerPoint Presentation</vt:lpstr>
      <vt:lpstr>PowerPoint Presentation</vt:lpstr>
      <vt:lpstr>KYC AccountDetails</vt:lpstr>
      <vt:lpstr>PowerPoint Presentation</vt:lpstr>
      <vt:lpstr>PowerPoint Presentation</vt:lpstr>
      <vt:lpstr>Credit Bureau Soft Pull</vt:lpstr>
      <vt:lpstr>PowerPoint Presentation</vt:lpstr>
      <vt:lpstr>Decision Engine Conditional approval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Full Adjudication MANUAL [RCSC]</vt:lpstr>
      <vt:lpstr>PowerPoint Presentation</vt:lpstr>
      <vt:lpstr>PowerPoint Presentation</vt:lpstr>
      <vt:lpstr>PowerPoint Presentation</vt:lpstr>
      <vt:lpstr>PowerPoint Presentation</vt:lpstr>
      <vt:lpstr>End </vt:lpstr>
      <vt:lpstr>Funding </vt:lpstr>
      <vt:lpstr>Fulfillment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List of Emails</vt:lpstr>
      <vt:lpstr>PowerPoint Presentation</vt:lpstr>
    </vt:vector>
  </TitlesOfParts>
  <Company>ALTERNA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Alterna Staff</dc:creator>
  <cp:lastModifiedBy>Owner</cp:lastModifiedBy>
  <cp:revision>1538</cp:revision>
  <cp:lastPrinted>2019-07-17T18:05:00Z</cp:lastPrinted>
  <dcterms:created xsi:type="dcterms:W3CDTF">2010-10-27T15:59:43Z</dcterms:created>
  <dcterms:modified xsi:type="dcterms:W3CDTF">2020-11-03T18:39:21Z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993345a4-70c3-45f9-b73b-736bafb3d45b</vt:lpwstr>
  </property>
  <property fmtid="{D5CDD505-2E9C-101B-9397-08002B2CF9AE}" pid="3" name="MSIP_Label_74c5608e-3929-467e-bfcd-19caec4d7edc_Enabled">
    <vt:lpwstr>True</vt:lpwstr>
  </property>
  <property fmtid="{D5CDD505-2E9C-101B-9397-08002B2CF9AE}" pid="4" name="MSIP_Label_74c5608e-3929-467e-bfcd-19caec4d7edc_SiteId">
    <vt:lpwstr>c40ee2b0-9e6a-497c-ab4d-62dd37163961</vt:lpwstr>
  </property>
  <property fmtid="{D5CDD505-2E9C-101B-9397-08002B2CF9AE}" pid="5" name="MSIP_Label_74c5608e-3929-467e-bfcd-19caec4d7edc_Ref">
    <vt:lpwstr>https://api.informationprotection.azure.com/api/c40ee2b0-9e6a-497c-ab4d-62dd37163961</vt:lpwstr>
  </property>
  <property fmtid="{D5CDD505-2E9C-101B-9397-08002B2CF9AE}" pid="6" name="MSIP_Label_74c5608e-3929-467e-bfcd-19caec4d7edc_Owner">
    <vt:lpwstr>Eileen.Gordon@alterna.ca</vt:lpwstr>
  </property>
  <property fmtid="{D5CDD505-2E9C-101B-9397-08002B2CF9AE}" pid="7" name="MSIP_Label_74c5608e-3929-467e-bfcd-19caec4d7edc_SetDate">
    <vt:lpwstr>2019-06-27T10:34:25.7067950-04:00</vt:lpwstr>
  </property>
  <property fmtid="{D5CDD505-2E9C-101B-9397-08002B2CF9AE}" pid="8" name="MSIP_Label_74c5608e-3929-467e-bfcd-19caec4d7edc_Name">
    <vt:lpwstr>NO CLASSIFICATION</vt:lpwstr>
  </property>
  <property fmtid="{D5CDD505-2E9C-101B-9397-08002B2CF9AE}" pid="9" name="MSIP_Label_74c5608e-3929-467e-bfcd-19caec4d7edc_Application">
    <vt:lpwstr>Microsoft Azure Information Protection</vt:lpwstr>
  </property>
  <property fmtid="{D5CDD505-2E9C-101B-9397-08002B2CF9AE}" pid="10" name="MSIP_Label_74c5608e-3929-467e-bfcd-19caec4d7edc_Extended_MSFT_Method">
    <vt:lpwstr>Manual</vt:lpwstr>
  </property>
  <property fmtid="{D5CDD505-2E9C-101B-9397-08002B2CF9AE}" pid="11" name="Sensitivity">
    <vt:lpwstr>NO CLASSIFICATION</vt:lpwstr>
  </property>
  <property fmtid="{D5CDD505-2E9C-101B-9397-08002B2CF9AE}" pid="12" name="ALTERNAClassification">
    <vt:lpwstr>CONFIDENTIAL</vt:lpwstr>
  </property>
</Properties>
</file>